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you point PulseOps at an app once, and it answers two questions: which files are wasted, and which API calls are slow or failing. Everything in this deck is a screenshot from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workflow created two entries for one app, one for the asset scan and one for APIs and Services. The key and snippet were hard to get from the dashboard, which is what pushed people to create a second project. This POC removes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in. The lab scan needs nothing in the app. The SDK is optional and adds real traffic. Both land in the same project, so the dashboard shows 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ten minutes. Steps 1 to 4 are the core story. Step 5 is a quick look. Step 6 is a talking point unless you want to show the key dialog.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seeded Shop API project, so the pages are full of data. Sign in with demo@pulseops.dev. Use it to show what a finished report looks like before creating a new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form live. The project name comes from the repo folder. After Create, the dialog shows the one-time key and a snippet that already has the service name filled in. Mention that creating a second project with the same name is refused with a clear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app has a 2.1 MB hero image, a 2.0 MB banner nothing uses, and a missing promo image. The scan flags each of these and suggests resizing or converting to WebP or AVIF.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button. In this run, /api/recommendations returned 500 so it shows 100% errors, and /api/checkout took about 0.9 s so its Apdex is 0.50. If the app is not running, the page says: Is your app running at the base URL? Start it and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no live telemetry, the Services page falls back to a single card from the latest capture. Once live traffic arrives, the real per-process cards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live rows come from a script posting to the same ingest endpoint the SDK uses, because the demo app does not embed the SDK. In a real app you paste the snippet into main.tsx and traffic arrives within a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honesty: it works end to end, and the limits are known. Starting the app automatically is deliberately left out because running commands from the dashboard is a security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SCAN.md in the repository has the full steps, including installing Playwright and Chromium for the scanner.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640080" y="1371600"/>
            <a:ext cx="5029200" cy="274320"/>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POC PRESENTATION</a:t>
            </a:r>
            <a:endParaRPr lang="en-US" sz="1300" dirty="0"/>
          </a:p>
        </p:txBody>
      </p:sp>
      <p:sp>
        <p:nvSpPr>
          <p:cNvPr id="3" name="Text 1"/>
          <p:cNvSpPr txBox="1"/>
          <p:nvPr/>
        </p:nvSpPr>
        <p:spPr>
          <a:xfrm>
            <a:off x="640080" y="1737360"/>
            <a:ext cx="5120640" cy="914400"/>
          </a:xfrm>
          <a:prstGeom prst="rect">
            <a:avLst/>
          </a:prstGeom>
          <a:noFill/>
          <a:ln/>
        </p:spPr>
        <p:txBody>
          <a:bodyPr wrap="square" lIns="0" tIns="0" rIns="0" bIns="0" rtlCol="0" anchor="ctr"/>
          <a:lstStyle/>
          <a:p>
            <a:pPr indent="0" marL="0">
              <a:buNone/>
            </a:pPr>
            <a:r>
              <a:rPr lang="en-US" sz="5400" b="1" dirty="0">
                <a:solidFill>
                  <a:srgbClr val="F4F4FA"/>
                </a:solidFill>
                <a:latin typeface="Calibri" pitchFamily="34" charset="0"/>
                <a:ea typeface="Calibri" pitchFamily="34" charset="-122"/>
                <a:cs typeface="Calibri" pitchFamily="34" charset="-120"/>
              </a:rPr>
              <a:t>PulseOps</a:t>
            </a:r>
            <a:endParaRPr lang="en-US" sz="5400" dirty="0"/>
          </a:p>
        </p:txBody>
      </p:sp>
      <p:sp>
        <p:nvSpPr>
          <p:cNvPr id="4" name="Text 2"/>
          <p:cNvSpPr txBox="1"/>
          <p:nvPr/>
        </p:nvSpPr>
        <p:spPr>
          <a:xfrm>
            <a:off x="640080" y="2788920"/>
            <a:ext cx="4846320" cy="1005840"/>
          </a:xfrm>
          <a:prstGeom prst="rect">
            <a:avLst/>
          </a:prstGeom>
          <a:noFill/>
          <a:ln/>
        </p:spPr>
        <p:txBody>
          <a:bodyPr wrap="square" lIns="0" tIns="0" rIns="0" bIns="0" rtlCol="0" anchor="ctr"/>
          <a:lstStyle/>
          <a:p>
            <a:pPr indent="0" marL="0">
              <a:buNone/>
            </a:pPr>
            <a:r>
              <a:rPr lang="en-US" sz="2000" dirty="0">
                <a:solidFill>
                  <a:srgbClr val="A8A8C4"/>
                </a:solidFill>
                <a:latin typeface="Calibri" pitchFamily="34" charset="0"/>
                <a:ea typeface="Calibri" pitchFamily="34" charset="-122"/>
                <a:cs typeface="Calibri" pitchFamily="34" charset="-120"/>
              </a:rPr>
              <a:t>One project per app: asset scan and API performance in a single workspace.</a:t>
            </a:r>
            <a:endParaRPr lang="en-US" sz="2000" dirty="0"/>
          </a:p>
        </p:txBody>
      </p:sp>
      <p:sp>
        <p:nvSpPr>
          <p:cNvPr id="5" name="Text 3"/>
          <p:cNvSpPr txBox="1"/>
          <p:nvPr/>
        </p:nvSpPr>
        <p:spPr>
          <a:xfrm>
            <a:off x="640080" y="5394960"/>
            <a:ext cx="4846320" cy="548640"/>
          </a:xfrm>
          <a:prstGeom prst="rect">
            <a:avLst/>
          </a:prstGeom>
          <a:noFill/>
          <a:ln/>
        </p:spPr>
        <p:txBody>
          <a:bodyPr wrap="square" lIns="0" tIns="0" rIns="0" bIns="0" rtlCol="0" anchor="ctr"/>
          <a:lstStyle/>
          <a:p>
            <a:pPr indent="0" marL="0">
              <a:buNone/>
            </a:pPr>
            <a:r>
              <a:rPr lang="en-US" sz="1300" dirty="0">
                <a:solidFill>
                  <a:srgbClr val="8B6CFF"/>
                </a:solidFill>
                <a:latin typeface="Calibri" pitchFamily="34" charset="0"/>
                <a:ea typeface="Calibri" pitchFamily="34" charset="-122"/>
                <a:cs typeface="Calibri" pitchFamily="34" charset="-120"/>
              </a:rPr>
              <a:t>End-to-end walkthrough with screenshots from the running application</a:t>
            </a:r>
            <a:endParaRPr lang="en-US" sz="1300" dirty="0"/>
          </a:p>
        </p:txBody>
      </p:sp>
      <p:sp>
        <p:nvSpPr>
          <p:cNvPr id="6" name="Shape 4"/>
          <p:cNvSpPr/>
          <p:nvPr/>
        </p:nvSpPr>
        <p:spPr>
          <a:xfrm>
            <a:off x="5897880" y="1143000"/>
            <a:ext cx="5852160" cy="3531870"/>
          </a:xfrm>
          <a:prstGeom prst="roundRect">
            <a:avLst>
              <a:gd name="adj" fmla="val 2071"/>
            </a:avLst>
          </a:prstGeom>
          <a:solidFill>
            <a:srgbClr val="15152A"/>
          </a:solidFill>
          <a:ln w="12700">
            <a:solidFill>
              <a:srgbClr val="2A2A4A"/>
            </a:solidFill>
            <a:prstDash val="solid"/>
          </a:ln>
        </p:spPr>
      </p:sp>
      <p:pic>
        <p:nvPicPr>
          <p:cNvPr id="7" name="Image 0" descr="/Users/sakariyaanthony/Documents/GitHub/pulseops/pulseops-source/docs/poc/02-overview.png">    </p:cNvPr>
          <p:cNvPicPr>
            <a:picLocks noChangeAspect="1"/>
          </p:cNvPicPr>
          <p:nvPr/>
        </p:nvPicPr>
        <p:blipFill>
          <a:blip r:embed="rId1"/>
          <a:stretch>
            <a:fillRect/>
          </a:stretch>
        </p:blipFill>
        <p:spPr>
          <a:xfrm>
            <a:off x="5943600" y="1188720"/>
            <a:ext cx="5760720" cy="34404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GOAL</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What this POC sets out to prove</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48640" y="1554480"/>
            <a:ext cx="3474720" cy="3931920"/>
          </a:xfrm>
          <a:prstGeom prst="roundRect">
            <a:avLst>
              <a:gd name="adj" fmla="val 2632"/>
            </a:avLst>
          </a:prstGeom>
          <a:solidFill>
            <a:srgbClr val="15152A"/>
          </a:solidFill>
          <a:ln w="12700">
            <a:solidFill>
              <a:srgbClr val="2A2A4A"/>
            </a:solidFill>
            <a:prstDash val="solid"/>
          </a:ln>
        </p:spPr>
      </p:sp>
      <p:sp>
        <p:nvSpPr>
          <p:cNvPr id="6" name="Shape 4"/>
          <p:cNvSpPr/>
          <p:nvPr/>
        </p:nvSpPr>
        <p:spPr>
          <a:xfrm>
            <a:off x="822960" y="1828800"/>
            <a:ext cx="640080" cy="640080"/>
          </a:xfrm>
          <a:prstGeom prst="ellipse">
            <a:avLst/>
          </a:prstGeom>
          <a:solidFill>
            <a:srgbClr val="8B6CFF"/>
          </a:solidFill>
          <a:ln/>
        </p:spPr>
      </p:sp>
      <p:sp>
        <p:nvSpPr>
          <p:cNvPr id="7" name="Text 5"/>
          <p:cNvSpPr txBox="1"/>
          <p:nvPr/>
        </p:nvSpPr>
        <p:spPr>
          <a:xfrm>
            <a:off x="822960"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txBox="1"/>
          <p:nvPr/>
        </p:nvSpPr>
        <p:spPr>
          <a:xfrm>
            <a:off x="822960" y="2697480"/>
            <a:ext cx="2926080" cy="731520"/>
          </a:xfrm>
          <a:prstGeom prst="rect">
            <a:avLst/>
          </a:prstGeom>
          <a:noFill/>
          <a:ln/>
        </p:spPr>
        <p:txBody>
          <a:bodyPr wrap="square" lIns="0" tIns="0" rIns="0" bIns="0" rtlCol="0" anchor="t"/>
          <a:lstStyle/>
          <a:p>
            <a:pPr indent="0" marL="0">
              <a:buNone/>
            </a:pPr>
            <a:r>
              <a:rPr lang="en-US" sz="2000" b="1" dirty="0">
                <a:solidFill>
                  <a:srgbClr val="F4F4FA"/>
                </a:solidFill>
                <a:latin typeface="Calibri" pitchFamily="34" charset="0"/>
                <a:ea typeface="Calibri" pitchFamily="34" charset="-122"/>
                <a:cs typeface="Calibri" pitchFamily="34" charset="-120"/>
              </a:rPr>
              <a:t>Two questions, one place</a:t>
            </a:r>
            <a:endParaRPr lang="en-US" sz="2000" dirty="0"/>
          </a:p>
        </p:txBody>
      </p:sp>
      <p:sp>
        <p:nvSpPr>
          <p:cNvPr id="9" name="Text 7"/>
          <p:cNvSpPr txBox="1"/>
          <p:nvPr/>
        </p:nvSpPr>
        <p:spPr>
          <a:xfrm>
            <a:off x="822960" y="3474720"/>
            <a:ext cx="2926080" cy="1828800"/>
          </a:xfrm>
          <a:prstGeom prst="rect">
            <a:avLst/>
          </a:prstGeom>
          <a:noFill/>
          <a:ln/>
        </p:spPr>
        <p:txBody>
          <a:bodyPr wrap="square" lIns="0" tIns="0" rIns="0" bIns="0" rtlCol="0" anchor="t"/>
          <a:lstStyle/>
          <a:p>
            <a:pPr indent="0" marL="0">
              <a:buNone/>
            </a:pPr>
            <a:r>
              <a:rPr lang="en-US" sz="1400" dirty="0">
                <a:solidFill>
                  <a:srgbClr val="A8A8C4"/>
                </a:solidFill>
                <a:latin typeface="Calibri" pitchFamily="34" charset="0"/>
                <a:ea typeface="Calibri" pitchFamily="34" charset="-122"/>
                <a:cs typeface="Calibri" pitchFamily="34" charset="-120"/>
              </a:rPr>
              <a:t>Which asset files are unused, oversized or broken, and which API calls are slow or failing? Both answers live in one project.</a:t>
            </a:r>
            <a:endParaRPr lang="en-US" sz="1400" dirty="0"/>
          </a:p>
        </p:txBody>
      </p:sp>
      <p:sp>
        <p:nvSpPr>
          <p:cNvPr id="10" name="Shape 8"/>
          <p:cNvSpPr/>
          <p:nvPr/>
        </p:nvSpPr>
        <p:spPr>
          <a:xfrm>
            <a:off x="4297680" y="1554480"/>
            <a:ext cx="3474720" cy="3931920"/>
          </a:xfrm>
          <a:prstGeom prst="roundRect">
            <a:avLst>
              <a:gd name="adj" fmla="val 2632"/>
            </a:avLst>
          </a:prstGeom>
          <a:solidFill>
            <a:srgbClr val="15152A"/>
          </a:solidFill>
          <a:ln w="12700">
            <a:solidFill>
              <a:srgbClr val="2A2A4A"/>
            </a:solidFill>
            <a:prstDash val="solid"/>
          </a:ln>
        </p:spPr>
      </p:sp>
      <p:sp>
        <p:nvSpPr>
          <p:cNvPr id="11" name="Shape 9"/>
          <p:cNvSpPr/>
          <p:nvPr/>
        </p:nvSpPr>
        <p:spPr>
          <a:xfrm>
            <a:off x="4572000" y="1828800"/>
            <a:ext cx="640080" cy="640080"/>
          </a:xfrm>
          <a:prstGeom prst="ellipse">
            <a:avLst/>
          </a:prstGeom>
          <a:solidFill>
            <a:srgbClr val="8B6CFF"/>
          </a:solidFill>
          <a:ln/>
        </p:spPr>
      </p:sp>
      <p:sp>
        <p:nvSpPr>
          <p:cNvPr id="12" name="Text 10"/>
          <p:cNvSpPr txBox="1"/>
          <p:nvPr/>
        </p:nvSpPr>
        <p:spPr>
          <a:xfrm>
            <a:off x="4572000"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4572000" y="2697480"/>
            <a:ext cx="2926080" cy="731520"/>
          </a:xfrm>
          <a:prstGeom prst="rect">
            <a:avLst/>
          </a:prstGeom>
          <a:noFill/>
          <a:ln/>
        </p:spPr>
        <p:txBody>
          <a:bodyPr wrap="square" lIns="0" tIns="0" rIns="0" bIns="0" rtlCol="0" anchor="t"/>
          <a:lstStyle/>
          <a:p>
            <a:pPr indent="0" marL="0">
              <a:buNone/>
            </a:pPr>
            <a:r>
              <a:rPr lang="en-US" sz="2000" b="1" dirty="0">
                <a:solidFill>
                  <a:srgbClr val="F4F4FA"/>
                </a:solidFill>
                <a:latin typeface="Calibri" pitchFamily="34" charset="0"/>
                <a:ea typeface="Calibri" pitchFamily="34" charset="-122"/>
                <a:cs typeface="Calibri" pitchFamily="34" charset="-120"/>
              </a:rPr>
              <a:t>No code needed to start</a:t>
            </a:r>
            <a:endParaRPr lang="en-US" sz="2000" dirty="0"/>
          </a:p>
        </p:txBody>
      </p:sp>
      <p:sp>
        <p:nvSpPr>
          <p:cNvPr id="14" name="Text 12"/>
          <p:cNvSpPr txBox="1"/>
          <p:nvPr/>
        </p:nvSpPr>
        <p:spPr>
          <a:xfrm>
            <a:off x="4572000" y="3474720"/>
            <a:ext cx="2926080" cy="1828800"/>
          </a:xfrm>
          <a:prstGeom prst="rect">
            <a:avLst/>
          </a:prstGeom>
          <a:noFill/>
          <a:ln/>
        </p:spPr>
        <p:txBody>
          <a:bodyPr wrap="square" lIns="0" tIns="0" rIns="0" bIns="0" rtlCol="0" anchor="t"/>
          <a:lstStyle/>
          <a:p>
            <a:pPr indent="0" marL="0">
              <a:buNone/>
            </a:pPr>
            <a:r>
              <a:rPr lang="en-US" sz="1400" dirty="0">
                <a:solidFill>
                  <a:srgbClr val="A8A8C4"/>
                </a:solidFill>
                <a:latin typeface="Calibri" pitchFamily="34" charset="0"/>
                <a:ea typeface="Calibri" pitchFamily="34" charset="-122"/>
                <a:cs typeface="Calibri" pitchFamily="34" charset="-120"/>
              </a:rPr>
              <a:t>A scan reads the repository and opens the running app in a browser. The app does not need to be changed.</a:t>
            </a:r>
            <a:endParaRPr lang="en-US" sz="1400" dirty="0"/>
          </a:p>
        </p:txBody>
      </p:sp>
      <p:sp>
        <p:nvSpPr>
          <p:cNvPr id="15" name="Shape 13"/>
          <p:cNvSpPr/>
          <p:nvPr/>
        </p:nvSpPr>
        <p:spPr>
          <a:xfrm>
            <a:off x="8046720" y="1554480"/>
            <a:ext cx="3474720" cy="3931920"/>
          </a:xfrm>
          <a:prstGeom prst="roundRect">
            <a:avLst>
              <a:gd name="adj" fmla="val 2632"/>
            </a:avLst>
          </a:prstGeom>
          <a:solidFill>
            <a:srgbClr val="15152A"/>
          </a:solidFill>
          <a:ln w="12700">
            <a:solidFill>
              <a:srgbClr val="2A2A4A"/>
            </a:solidFill>
            <a:prstDash val="solid"/>
          </a:ln>
        </p:spPr>
      </p:sp>
      <p:sp>
        <p:nvSpPr>
          <p:cNvPr id="16" name="Shape 14"/>
          <p:cNvSpPr/>
          <p:nvPr/>
        </p:nvSpPr>
        <p:spPr>
          <a:xfrm>
            <a:off x="8321040" y="1828800"/>
            <a:ext cx="640080" cy="640080"/>
          </a:xfrm>
          <a:prstGeom prst="ellipse">
            <a:avLst/>
          </a:prstGeom>
          <a:solidFill>
            <a:srgbClr val="8B6CFF"/>
          </a:solidFill>
          <a:ln/>
        </p:spPr>
      </p:sp>
      <p:sp>
        <p:nvSpPr>
          <p:cNvPr id="17" name="Text 15"/>
          <p:cNvSpPr txBox="1"/>
          <p:nvPr/>
        </p:nvSpPr>
        <p:spPr>
          <a:xfrm>
            <a:off x="8321040" y="1828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txBox="1"/>
          <p:nvPr/>
        </p:nvSpPr>
        <p:spPr>
          <a:xfrm>
            <a:off x="8321040" y="2697480"/>
            <a:ext cx="2926080" cy="731520"/>
          </a:xfrm>
          <a:prstGeom prst="rect">
            <a:avLst/>
          </a:prstGeom>
          <a:noFill/>
          <a:ln/>
        </p:spPr>
        <p:txBody>
          <a:bodyPr wrap="square" lIns="0" tIns="0" rIns="0" bIns="0" rtlCol="0" anchor="t"/>
          <a:lstStyle/>
          <a:p>
            <a:pPr indent="0" marL="0">
              <a:buNone/>
            </a:pPr>
            <a:r>
              <a:rPr lang="en-US" sz="2000" b="1" dirty="0">
                <a:solidFill>
                  <a:srgbClr val="F4F4FA"/>
                </a:solidFill>
                <a:latin typeface="Calibri" pitchFamily="34" charset="0"/>
                <a:ea typeface="Calibri" pitchFamily="34" charset="-122"/>
                <a:cs typeface="Calibri" pitchFamily="34" charset="-120"/>
              </a:rPr>
              <a:t>Live traffic when you want it</a:t>
            </a:r>
            <a:endParaRPr lang="en-US" sz="2000" dirty="0"/>
          </a:p>
        </p:txBody>
      </p:sp>
      <p:sp>
        <p:nvSpPr>
          <p:cNvPr id="19" name="Text 17"/>
          <p:cNvSpPr txBox="1"/>
          <p:nvPr/>
        </p:nvSpPr>
        <p:spPr>
          <a:xfrm>
            <a:off x="8321040" y="3474720"/>
            <a:ext cx="2926080" cy="1828800"/>
          </a:xfrm>
          <a:prstGeom prst="rect">
            <a:avLst/>
          </a:prstGeom>
          <a:noFill/>
          <a:ln/>
        </p:spPr>
        <p:txBody>
          <a:bodyPr wrap="square" lIns="0" tIns="0" rIns="0" bIns="0" rtlCol="0" anchor="t"/>
          <a:lstStyle/>
          <a:p>
            <a:pPr indent="0" marL="0">
              <a:buNone/>
            </a:pPr>
            <a:r>
              <a:rPr lang="en-US" sz="1400" dirty="0">
                <a:solidFill>
                  <a:srgbClr val="A8A8C4"/>
                </a:solidFill>
                <a:latin typeface="Calibri" pitchFamily="34" charset="0"/>
                <a:ea typeface="Calibri" pitchFamily="34" charset="-122"/>
                <a:cs typeface="Calibri" pitchFamily="34" charset="-120"/>
              </a:rPr>
              <a:t>Add a short SDK snippet to also see real traffic, throughput and errors as people use the app.</a:t>
            </a:r>
            <a:endParaRPr lang="en-US" sz="1400" dirty="0"/>
          </a:p>
        </p:txBody>
      </p:sp>
      <p:sp>
        <p:nvSpPr>
          <p:cNvPr id="20" name="Text 18"/>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400" i="1" dirty="0">
                <a:solidFill>
                  <a:srgbClr val="22D3EE"/>
                </a:solidFill>
                <a:latin typeface="Calibri" pitchFamily="34" charset="0"/>
                <a:ea typeface="Calibri" pitchFamily="34" charset="-122"/>
                <a:cs typeface="Calibri" pitchFamily="34" charset="-120"/>
              </a:rPr>
              <a:t>Earlier, asset scanning and API performance ended up as two separate project entries. The POC combines them into one app entry.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How it fits together</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48640" y="1554480"/>
            <a:ext cx="2743200" cy="1737360"/>
          </a:xfrm>
          <a:prstGeom prst="roundRect">
            <a:avLst>
              <a:gd name="adj" fmla="val 5263"/>
            </a:avLst>
          </a:prstGeom>
          <a:solidFill>
            <a:srgbClr val="15152A"/>
          </a:solidFill>
          <a:ln w="19050">
            <a:solidFill>
              <a:srgbClr val="22D3EE"/>
            </a:solidFill>
            <a:prstDash val="solid"/>
          </a:ln>
        </p:spPr>
      </p:sp>
      <p:sp>
        <p:nvSpPr>
          <p:cNvPr id="6" name="Text 4"/>
          <p:cNvSpPr txBox="1"/>
          <p:nvPr/>
        </p:nvSpPr>
        <p:spPr>
          <a:xfrm>
            <a:off x="731520" y="1691640"/>
            <a:ext cx="2377440" cy="365760"/>
          </a:xfrm>
          <a:prstGeom prst="rect">
            <a:avLst/>
          </a:prstGeom>
          <a:noFill/>
          <a:ln/>
        </p:spPr>
        <p:txBody>
          <a:bodyPr wrap="square" lIns="0" tIns="0" rIns="0" bIns="0" rtlCol="0" anchor="ctr"/>
          <a:lstStyle/>
          <a:p>
            <a:pPr indent="0" marL="0">
              <a:buNone/>
            </a:pPr>
            <a:r>
              <a:rPr lang="en-US" sz="1600" b="1" dirty="0">
                <a:solidFill>
                  <a:srgbClr val="F4F4FA"/>
                </a:solidFill>
                <a:latin typeface="Calibri" pitchFamily="34" charset="0"/>
                <a:ea typeface="Calibri" pitchFamily="34" charset="-122"/>
                <a:cs typeface="Calibri" pitchFamily="34" charset="-120"/>
              </a:rPr>
              <a:t>Lab scan</a:t>
            </a:r>
            <a:endParaRPr lang="en-US" sz="1600" dirty="0"/>
          </a:p>
        </p:txBody>
      </p:sp>
      <p:sp>
        <p:nvSpPr>
          <p:cNvPr id="7" name="Text 5"/>
          <p:cNvSpPr txBox="1"/>
          <p:nvPr/>
        </p:nvSpPr>
        <p:spPr>
          <a:xfrm>
            <a:off x="731520" y="2103120"/>
            <a:ext cx="2377440" cy="1097280"/>
          </a:xfrm>
          <a:prstGeom prst="rect">
            <a:avLst/>
          </a:prstGeom>
          <a:noFill/>
          <a:ln/>
        </p:spPr>
        <p:txBody>
          <a:bodyPr wrap="square" lIns="0" tIns="0" rIns="0" bIns="0" rtlCol="0" anchor="t"/>
          <a:lstStyle/>
          <a:p>
            <a:pPr indent="0" marL="0">
              <a:buNone/>
            </a:pPr>
            <a:r>
              <a:rPr lang="en-US" sz="1200" dirty="0">
                <a:solidFill>
                  <a:srgbClr val="A8A8C4"/>
                </a:solidFill>
                <a:latin typeface="Calibri" pitchFamily="34" charset="0"/>
                <a:ea typeface="Calibri" pitchFamily="34" charset="-122"/>
                <a:cs typeface="Calibri" pitchFamily="34" charset="-120"/>
              </a:rPr>
              <a:t>Chromium (Playwright) opens your running app, visits the routes you list, and records assets, API calls and page timings. The repository is read too.</a:t>
            </a:r>
            <a:endParaRPr lang="en-US" sz="1200" dirty="0"/>
          </a:p>
        </p:txBody>
      </p:sp>
      <p:sp>
        <p:nvSpPr>
          <p:cNvPr id="8" name="Shape 6"/>
          <p:cNvSpPr/>
          <p:nvPr/>
        </p:nvSpPr>
        <p:spPr>
          <a:xfrm>
            <a:off x="548640" y="3749040"/>
            <a:ext cx="2743200" cy="1737360"/>
          </a:xfrm>
          <a:prstGeom prst="roundRect">
            <a:avLst>
              <a:gd name="adj" fmla="val 5263"/>
            </a:avLst>
          </a:prstGeom>
          <a:solidFill>
            <a:srgbClr val="15152A"/>
          </a:solidFill>
          <a:ln w="19050">
            <a:solidFill>
              <a:srgbClr val="8B6CFF"/>
            </a:solidFill>
            <a:prstDash val="solid"/>
          </a:ln>
        </p:spPr>
      </p:sp>
      <p:sp>
        <p:nvSpPr>
          <p:cNvPr id="9" name="Text 7"/>
          <p:cNvSpPr txBox="1"/>
          <p:nvPr/>
        </p:nvSpPr>
        <p:spPr>
          <a:xfrm>
            <a:off x="731520" y="3886200"/>
            <a:ext cx="2377440" cy="365760"/>
          </a:xfrm>
          <a:prstGeom prst="rect">
            <a:avLst/>
          </a:prstGeom>
          <a:noFill/>
          <a:ln/>
        </p:spPr>
        <p:txBody>
          <a:bodyPr wrap="square" lIns="0" tIns="0" rIns="0" bIns="0" rtlCol="0" anchor="ctr"/>
          <a:lstStyle/>
          <a:p>
            <a:pPr indent="0" marL="0">
              <a:buNone/>
            </a:pPr>
            <a:r>
              <a:rPr lang="en-US" sz="1600" b="1" dirty="0">
                <a:solidFill>
                  <a:srgbClr val="F4F4FA"/>
                </a:solidFill>
                <a:latin typeface="Calibri" pitchFamily="34" charset="0"/>
                <a:ea typeface="Calibri" pitchFamily="34" charset="-122"/>
                <a:cs typeface="Calibri" pitchFamily="34" charset="-120"/>
              </a:rPr>
              <a:t>Browser SDK (optional)</a:t>
            </a:r>
            <a:endParaRPr lang="en-US" sz="1600" dirty="0"/>
          </a:p>
        </p:txBody>
      </p:sp>
      <p:sp>
        <p:nvSpPr>
          <p:cNvPr id="10" name="Text 8"/>
          <p:cNvSpPr txBox="1"/>
          <p:nvPr/>
        </p:nvSpPr>
        <p:spPr>
          <a:xfrm>
            <a:off x="731520" y="4297680"/>
            <a:ext cx="2377440" cy="1097280"/>
          </a:xfrm>
          <a:prstGeom prst="rect">
            <a:avLst/>
          </a:prstGeom>
          <a:noFill/>
          <a:ln/>
        </p:spPr>
        <p:txBody>
          <a:bodyPr wrap="square" lIns="0" tIns="0" rIns="0" bIns="0" rtlCol="0" anchor="t"/>
          <a:lstStyle/>
          <a:p>
            <a:pPr indent="0" marL="0">
              <a:buNone/>
            </a:pPr>
            <a:r>
              <a:rPr lang="en-US" sz="1200" dirty="0">
                <a:solidFill>
                  <a:srgbClr val="A8A8C4"/>
                </a:solidFill>
                <a:latin typeface="Calibri" pitchFamily="34" charset="0"/>
                <a:ea typeface="Calibri" pitchFamily="34" charset="-122"/>
                <a:cs typeface="Calibri" pitchFamily="34" charset="-120"/>
              </a:rPr>
              <a:t>A short snippet in the app sends fetch and XHR timings, page loads and errors every few seconds.</a:t>
            </a:r>
            <a:endParaRPr lang="en-US" sz="1200" dirty="0"/>
          </a:p>
        </p:txBody>
      </p:sp>
      <p:sp>
        <p:nvSpPr>
          <p:cNvPr id="11" name="Shape 9"/>
          <p:cNvSpPr/>
          <p:nvPr/>
        </p:nvSpPr>
        <p:spPr>
          <a:xfrm>
            <a:off x="4114800" y="2560320"/>
            <a:ext cx="2743200" cy="2103120"/>
          </a:xfrm>
          <a:prstGeom prst="roundRect">
            <a:avLst>
              <a:gd name="adj" fmla="val 4348"/>
            </a:avLst>
          </a:prstGeom>
          <a:solidFill>
            <a:srgbClr val="15152A"/>
          </a:solidFill>
          <a:ln w="19050">
            <a:solidFill>
              <a:srgbClr val="8B6CFF"/>
            </a:solidFill>
            <a:prstDash val="solid"/>
          </a:ln>
        </p:spPr>
      </p:sp>
      <p:sp>
        <p:nvSpPr>
          <p:cNvPr id="12" name="Text 10"/>
          <p:cNvSpPr txBox="1"/>
          <p:nvPr/>
        </p:nvSpPr>
        <p:spPr>
          <a:xfrm>
            <a:off x="4297680" y="2697480"/>
            <a:ext cx="2377440" cy="365760"/>
          </a:xfrm>
          <a:prstGeom prst="rect">
            <a:avLst/>
          </a:prstGeom>
          <a:noFill/>
          <a:ln/>
        </p:spPr>
        <p:txBody>
          <a:bodyPr wrap="square" lIns="0" tIns="0" rIns="0" bIns="0" rtlCol="0" anchor="ctr"/>
          <a:lstStyle/>
          <a:p>
            <a:pPr indent="0" marL="0">
              <a:buNone/>
            </a:pPr>
            <a:r>
              <a:rPr lang="en-US" sz="1600" b="1" dirty="0">
                <a:solidFill>
                  <a:srgbClr val="F4F4FA"/>
                </a:solidFill>
                <a:latin typeface="Calibri" pitchFamily="34" charset="0"/>
                <a:ea typeface="Calibri" pitchFamily="34" charset="-122"/>
                <a:cs typeface="Calibri" pitchFamily="34" charset="-120"/>
              </a:rPr>
              <a:t>PulseOps API</a:t>
            </a:r>
            <a:endParaRPr lang="en-US" sz="1600" dirty="0"/>
          </a:p>
        </p:txBody>
      </p:sp>
      <p:sp>
        <p:nvSpPr>
          <p:cNvPr id="13" name="Text 11"/>
          <p:cNvSpPr txBox="1"/>
          <p:nvPr/>
        </p:nvSpPr>
        <p:spPr>
          <a:xfrm>
            <a:off x="4297680" y="3108960"/>
            <a:ext cx="2377440" cy="1463040"/>
          </a:xfrm>
          <a:prstGeom prst="rect">
            <a:avLst/>
          </a:prstGeom>
          <a:noFill/>
          <a:ln/>
        </p:spPr>
        <p:txBody>
          <a:bodyPr wrap="square" lIns="0" tIns="0" rIns="0" bIns="0" rtlCol="0" anchor="t"/>
          <a:lstStyle/>
          <a:p>
            <a:pPr indent="0" marL="0">
              <a:buNone/>
            </a:pPr>
            <a:r>
              <a:rPr lang="en-US" sz="1200" dirty="0">
                <a:solidFill>
                  <a:srgbClr val="A8A8C4"/>
                </a:solidFill>
                <a:latin typeface="Calibri" pitchFamily="34" charset="0"/>
                <a:ea typeface="Calibri" pitchFamily="34" charset="-122"/>
                <a:cs typeface="Calibri" pitchFamily="34" charset="-120"/>
              </a:rPr>
              <a:t>FastAPI. Runs scans, accepts ingest calls with an API key, rolls data up, serves the dashboard.</a:t>
            </a:r>
            <a:endParaRPr lang="en-US" sz="1200" dirty="0"/>
          </a:p>
        </p:txBody>
      </p:sp>
      <p:sp>
        <p:nvSpPr>
          <p:cNvPr id="14" name="Shape 12"/>
          <p:cNvSpPr/>
          <p:nvPr/>
        </p:nvSpPr>
        <p:spPr>
          <a:xfrm>
            <a:off x="7589520" y="2560320"/>
            <a:ext cx="1828800" cy="2103120"/>
          </a:xfrm>
          <a:prstGeom prst="roundRect">
            <a:avLst>
              <a:gd name="adj" fmla="val 5000"/>
            </a:avLst>
          </a:prstGeom>
          <a:solidFill>
            <a:srgbClr val="15152A"/>
          </a:solidFill>
          <a:ln w="19050">
            <a:solidFill>
              <a:srgbClr val="34D399"/>
            </a:solidFill>
            <a:prstDash val="solid"/>
          </a:ln>
        </p:spPr>
      </p:sp>
      <p:sp>
        <p:nvSpPr>
          <p:cNvPr id="15" name="Text 13"/>
          <p:cNvSpPr txBox="1"/>
          <p:nvPr/>
        </p:nvSpPr>
        <p:spPr>
          <a:xfrm>
            <a:off x="7772400" y="2697480"/>
            <a:ext cx="1463040" cy="365760"/>
          </a:xfrm>
          <a:prstGeom prst="rect">
            <a:avLst/>
          </a:prstGeom>
          <a:noFill/>
          <a:ln/>
        </p:spPr>
        <p:txBody>
          <a:bodyPr wrap="square" lIns="0" tIns="0" rIns="0" bIns="0" rtlCol="0" anchor="ctr"/>
          <a:lstStyle/>
          <a:p>
            <a:pPr indent="0" marL="0">
              <a:buNone/>
            </a:pPr>
            <a:r>
              <a:rPr lang="en-US" sz="1600" b="1" dirty="0">
                <a:solidFill>
                  <a:srgbClr val="F4F4FA"/>
                </a:solidFill>
                <a:latin typeface="Calibri" pitchFamily="34" charset="0"/>
                <a:ea typeface="Calibri" pitchFamily="34" charset="-122"/>
                <a:cs typeface="Calibri" pitchFamily="34" charset="-120"/>
              </a:rPr>
              <a:t>Storage</a:t>
            </a:r>
            <a:endParaRPr lang="en-US" sz="1600" dirty="0"/>
          </a:p>
        </p:txBody>
      </p:sp>
      <p:sp>
        <p:nvSpPr>
          <p:cNvPr id="16" name="Text 14"/>
          <p:cNvSpPr txBox="1"/>
          <p:nvPr/>
        </p:nvSpPr>
        <p:spPr>
          <a:xfrm>
            <a:off x="7772400" y="3108960"/>
            <a:ext cx="1463040" cy="1463040"/>
          </a:xfrm>
          <a:prstGeom prst="rect">
            <a:avLst/>
          </a:prstGeom>
          <a:noFill/>
          <a:ln/>
        </p:spPr>
        <p:txBody>
          <a:bodyPr wrap="square" lIns="0" tIns="0" rIns="0" bIns="0" rtlCol="0" anchor="t"/>
          <a:lstStyle/>
          <a:p>
            <a:pPr indent="0" marL="0">
              <a:buNone/>
            </a:pPr>
            <a:r>
              <a:rPr lang="en-US" sz="1200" dirty="0">
                <a:solidFill>
                  <a:srgbClr val="A8A8C4"/>
                </a:solidFill>
                <a:latin typeface="Calibri" pitchFamily="34" charset="0"/>
                <a:ea typeface="Calibri" pitchFamily="34" charset="-122"/>
                <a:cs typeface="Calibri" pitchFamily="34" charset="-120"/>
              </a:rPr>
              <a:t>PostgreSQL with TimescaleDB for metrics. Redis for rate limits.</a:t>
            </a:r>
            <a:endParaRPr lang="en-US" sz="1200" dirty="0"/>
          </a:p>
        </p:txBody>
      </p:sp>
      <p:sp>
        <p:nvSpPr>
          <p:cNvPr id="17" name="Shape 15"/>
          <p:cNvSpPr/>
          <p:nvPr/>
        </p:nvSpPr>
        <p:spPr>
          <a:xfrm>
            <a:off x="9966960" y="2560320"/>
            <a:ext cx="1691640" cy="2103120"/>
          </a:xfrm>
          <a:prstGeom prst="roundRect">
            <a:avLst>
              <a:gd name="adj" fmla="val 5405"/>
            </a:avLst>
          </a:prstGeom>
          <a:solidFill>
            <a:srgbClr val="15152A"/>
          </a:solidFill>
          <a:ln w="19050">
            <a:solidFill>
              <a:srgbClr val="FBBF24"/>
            </a:solidFill>
            <a:prstDash val="solid"/>
          </a:ln>
        </p:spPr>
      </p:sp>
      <p:sp>
        <p:nvSpPr>
          <p:cNvPr id="18" name="Text 16"/>
          <p:cNvSpPr txBox="1"/>
          <p:nvPr/>
        </p:nvSpPr>
        <p:spPr>
          <a:xfrm>
            <a:off x="10149840" y="2697480"/>
            <a:ext cx="1325880" cy="365760"/>
          </a:xfrm>
          <a:prstGeom prst="rect">
            <a:avLst/>
          </a:prstGeom>
          <a:noFill/>
          <a:ln/>
        </p:spPr>
        <p:txBody>
          <a:bodyPr wrap="square" lIns="0" tIns="0" rIns="0" bIns="0" rtlCol="0" anchor="ctr"/>
          <a:lstStyle/>
          <a:p>
            <a:pPr indent="0" marL="0">
              <a:buNone/>
            </a:pPr>
            <a:r>
              <a:rPr lang="en-US" sz="1600" b="1" dirty="0">
                <a:solidFill>
                  <a:srgbClr val="F4F4FA"/>
                </a:solidFill>
                <a:latin typeface="Calibri" pitchFamily="34" charset="0"/>
                <a:ea typeface="Calibri" pitchFamily="34" charset="-122"/>
                <a:cs typeface="Calibri" pitchFamily="34" charset="-120"/>
              </a:rPr>
              <a:t>Dashboard</a:t>
            </a:r>
            <a:endParaRPr lang="en-US" sz="1600" dirty="0"/>
          </a:p>
        </p:txBody>
      </p:sp>
      <p:sp>
        <p:nvSpPr>
          <p:cNvPr id="19" name="Text 17"/>
          <p:cNvSpPr txBox="1"/>
          <p:nvPr/>
        </p:nvSpPr>
        <p:spPr>
          <a:xfrm>
            <a:off x="10149840" y="3108960"/>
            <a:ext cx="1325880" cy="1463040"/>
          </a:xfrm>
          <a:prstGeom prst="rect">
            <a:avLst/>
          </a:prstGeom>
          <a:noFill/>
          <a:ln/>
        </p:spPr>
        <p:txBody>
          <a:bodyPr wrap="square" lIns="0" tIns="0" rIns="0" bIns="0" rtlCol="0" anchor="t"/>
          <a:lstStyle/>
          <a:p>
            <a:pPr indent="0" marL="0">
              <a:buNone/>
            </a:pPr>
            <a:r>
              <a:rPr lang="en-US" sz="1200" dirty="0">
                <a:solidFill>
                  <a:srgbClr val="A8A8C4"/>
                </a:solidFill>
                <a:latin typeface="Calibri" pitchFamily="34" charset="0"/>
                <a:ea typeface="Calibri" pitchFamily="34" charset="-122"/>
                <a:cs typeface="Calibri" pitchFamily="34" charset="-120"/>
              </a:rPr>
              <a:t>React app on port 47321.</a:t>
            </a:r>
            <a:endParaRPr lang="en-US" sz="1200" dirty="0"/>
          </a:p>
        </p:txBody>
      </p:sp>
      <p:sp>
        <p:nvSpPr>
          <p:cNvPr id="20" name="Shape 18"/>
          <p:cNvSpPr/>
          <p:nvPr/>
        </p:nvSpPr>
        <p:spPr>
          <a:xfrm>
            <a:off x="3291840" y="2423160"/>
            <a:ext cx="822960" cy="868680"/>
          </a:xfrm>
          <a:prstGeom prst="line">
            <a:avLst/>
          </a:prstGeom>
          <a:noFill/>
          <a:ln w="19050">
            <a:solidFill>
              <a:srgbClr val="A8A8C4"/>
            </a:solidFill>
            <a:prstDash val="solid"/>
            <a:tailEnd type="triangle"/>
          </a:ln>
        </p:spPr>
      </p:sp>
      <p:sp>
        <p:nvSpPr>
          <p:cNvPr id="21" name="Shape 19"/>
          <p:cNvSpPr/>
          <p:nvPr/>
        </p:nvSpPr>
        <p:spPr>
          <a:xfrm flipV="1">
            <a:off x="3291840" y="3931920"/>
            <a:ext cx="822960" cy="685800"/>
          </a:xfrm>
          <a:prstGeom prst="line">
            <a:avLst/>
          </a:prstGeom>
          <a:noFill/>
          <a:ln w="19050">
            <a:solidFill>
              <a:srgbClr val="A8A8C4"/>
            </a:solidFill>
            <a:prstDash val="solid"/>
            <a:tailEnd type="triangle"/>
          </a:ln>
        </p:spPr>
      </p:sp>
      <p:sp>
        <p:nvSpPr>
          <p:cNvPr id="22" name="Shape 20"/>
          <p:cNvSpPr/>
          <p:nvPr/>
        </p:nvSpPr>
        <p:spPr>
          <a:xfrm>
            <a:off x="6858000" y="3611880"/>
            <a:ext cx="731520" cy="0"/>
          </a:xfrm>
          <a:prstGeom prst="line">
            <a:avLst/>
          </a:prstGeom>
          <a:noFill/>
          <a:ln w="19050">
            <a:solidFill>
              <a:srgbClr val="A8A8C4"/>
            </a:solidFill>
            <a:prstDash val="solid"/>
            <a:tailEnd type="triangle"/>
          </a:ln>
        </p:spPr>
      </p:sp>
      <p:sp>
        <p:nvSpPr>
          <p:cNvPr id="23" name="Shape 21"/>
          <p:cNvSpPr/>
          <p:nvPr/>
        </p:nvSpPr>
        <p:spPr>
          <a:xfrm>
            <a:off x="9418320" y="3611880"/>
            <a:ext cx="548640" cy="0"/>
          </a:xfrm>
          <a:prstGeom prst="line">
            <a:avLst/>
          </a:prstGeom>
          <a:noFill/>
          <a:ln w="19050">
            <a:solidFill>
              <a:srgbClr val="A8A8C4"/>
            </a:solidFill>
            <a:prstDash val="solid"/>
            <a:tailEnd type="triangle"/>
          </a:ln>
        </p:spPr>
      </p:sp>
      <p:sp>
        <p:nvSpPr>
          <p:cNvPr id="24" name="Text 22"/>
          <p:cNvSpPr txBox="1"/>
          <p:nvPr/>
        </p:nvSpPr>
        <p:spPr>
          <a:xfrm>
            <a:off x="4114800" y="5120640"/>
            <a:ext cx="7498080" cy="320040"/>
          </a:xfrm>
          <a:prstGeom prst="rect">
            <a:avLst/>
          </a:prstGeom>
          <a:noFill/>
          <a:ln/>
        </p:spPr>
        <p:txBody>
          <a:bodyPr wrap="square" lIns="0" tIns="0" rIns="0" bIns="0" rtlCol="0" anchor="ctr"/>
          <a:lstStyle/>
          <a:p>
            <a:pPr indent="0" marL="0">
              <a:buNone/>
            </a:pPr>
            <a:r>
              <a:rPr lang="en-US" sz="1300" dirty="0">
                <a:solidFill>
                  <a:srgbClr val="A8A8C4"/>
                </a:solidFill>
                <a:latin typeface="Calibri" pitchFamily="34" charset="0"/>
                <a:ea typeface="Calibri" pitchFamily="34" charset="-122"/>
                <a:cs typeface="Calibri" pitchFamily="34" charset="-120"/>
              </a:rPr>
              <a:t>Pages: Overview, Services, API, Errors, Insights, Assets, Settings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WALKTHROUGH</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The end-to-end flow in six steps</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48640" y="1554480"/>
            <a:ext cx="3474720" cy="2057400"/>
          </a:xfrm>
          <a:prstGeom prst="roundRect">
            <a:avLst>
              <a:gd name="adj" fmla="val 4444"/>
            </a:avLst>
          </a:prstGeom>
          <a:solidFill>
            <a:srgbClr val="15152A"/>
          </a:solidFill>
          <a:ln w="12700">
            <a:solidFill>
              <a:srgbClr val="2A2A4A"/>
            </a:solidFill>
            <a:prstDash val="solid"/>
          </a:ln>
        </p:spPr>
      </p:sp>
      <p:sp>
        <p:nvSpPr>
          <p:cNvPr id="6" name="Text 4"/>
          <p:cNvSpPr txBox="1"/>
          <p:nvPr/>
        </p:nvSpPr>
        <p:spPr>
          <a:xfrm>
            <a:off x="777240" y="1737360"/>
            <a:ext cx="548640" cy="548640"/>
          </a:xfrm>
          <a:prstGeom prst="rect">
            <a:avLst/>
          </a:prstGeom>
          <a:noFill/>
          <a:ln/>
        </p:spPr>
        <p:txBody>
          <a:bodyPr wrap="square" lIns="0" tIns="0" rIns="0" bIns="0" rtlCol="0" anchor="ctr"/>
          <a:lstStyle/>
          <a:p>
            <a:pPr indent="0" marL="0">
              <a:buNone/>
            </a:pPr>
            <a:r>
              <a:rPr lang="en-US" sz="3200" b="1" dirty="0">
                <a:solidFill>
                  <a:srgbClr val="8B6CFF"/>
                </a:solidFill>
                <a:latin typeface="Calibri" pitchFamily="34" charset="0"/>
                <a:ea typeface="Calibri" pitchFamily="34" charset="-122"/>
                <a:cs typeface="Calibri" pitchFamily="34" charset="-120"/>
              </a:rPr>
              <a:t>1</a:t>
            </a:r>
            <a:endParaRPr lang="en-US" sz="3200" dirty="0"/>
          </a:p>
        </p:txBody>
      </p:sp>
      <p:sp>
        <p:nvSpPr>
          <p:cNvPr id="7" name="Text 5"/>
          <p:cNvSpPr txBox="1"/>
          <p:nvPr/>
        </p:nvSpPr>
        <p:spPr>
          <a:xfrm>
            <a:off x="777240" y="2331720"/>
            <a:ext cx="3017520" cy="36576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Sign in</a:t>
            </a:r>
            <a:endParaRPr lang="en-US" sz="1800" dirty="0"/>
          </a:p>
        </p:txBody>
      </p:sp>
      <p:sp>
        <p:nvSpPr>
          <p:cNvPr id="8" name="Text 6"/>
          <p:cNvSpPr txBox="1"/>
          <p:nvPr/>
        </p:nvSpPr>
        <p:spPr>
          <a:xfrm>
            <a:off x="777240" y="2743200"/>
            <a:ext cx="3017520" cy="731520"/>
          </a:xfrm>
          <a:prstGeom prst="rect">
            <a:avLst/>
          </a:prstGeom>
          <a:noFill/>
          <a:ln/>
        </p:spPr>
        <p:txBody>
          <a:bodyPr wrap="square" lIns="0" tIns="0" rIns="0" bIns="0" rtlCol="0" anchor="t"/>
          <a:lstStyle/>
          <a:p>
            <a:pPr indent="0" marL="0">
              <a:buNone/>
            </a:pPr>
            <a:r>
              <a:rPr lang="en-US" sz="1300" dirty="0">
                <a:solidFill>
                  <a:srgbClr val="A8A8C4"/>
                </a:solidFill>
                <a:latin typeface="Calibri" pitchFamily="34" charset="0"/>
                <a:ea typeface="Calibri" pitchFamily="34" charset="-122"/>
                <a:cs typeface="Calibri" pitchFamily="34" charset="-120"/>
              </a:rPr>
              <a:t>Open the dashboard and look at the seeded Shop API demo.</a:t>
            </a:r>
            <a:endParaRPr lang="en-US" sz="1300" dirty="0"/>
          </a:p>
        </p:txBody>
      </p:sp>
      <p:sp>
        <p:nvSpPr>
          <p:cNvPr id="9" name="Shape 7"/>
          <p:cNvSpPr/>
          <p:nvPr/>
        </p:nvSpPr>
        <p:spPr>
          <a:xfrm>
            <a:off x="4297680" y="1554480"/>
            <a:ext cx="3474720" cy="2057400"/>
          </a:xfrm>
          <a:prstGeom prst="roundRect">
            <a:avLst>
              <a:gd name="adj" fmla="val 4444"/>
            </a:avLst>
          </a:prstGeom>
          <a:solidFill>
            <a:srgbClr val="15152A"/>
          </a:solidFill>
          <a:ln w="12700">
            <a:solidFill>
              <a:srgbClr val="2A2A4A"/>
            </a:solidFill>
            <a:prstDash val="solid"/>
          </a:ln>
        </p:spPr>
      </p:sp>
      <p:sp>
        <p:nvSpPr>
          <p:cNvPr id="10" name="Text 8"/>
          <p:cNvSpPr txBox="1"/>
          <p:nvPr/>
        </p:nvSpPr>
        <p:spPr>
          <a:xfrm>
            <a:off x="4526280" y="1737360"/>
            <a:ext cx="548640" cy="548640"/>
          </a:xfrm>
          <a:prstGeom prst="rect">
            <a:avLst/>
          </a:prstGeom>
          <a:noFill/>
          <a:ln/>
        </p:spPr>
        <p:txBody>
          <a:bodyPr wrap="square" lIns="0" tIns="0" rIns="0" bIns="0" rtlCol="0" anchor="ctr"/>
          <a:lstStyle/>
          <a:p>
            <a:pPr indent="0" marL="0">
              <a:buNone/>
            </a:pPr>
            <a:r>
              <a:rPr lang="en-US" sz="3200" b="1" dirty="0">
                <a:solidFill>
                  <a:srgbClr val="8B6CFF"/>
                </a:solidFill>
                <a:latin typeface="Calibri" pitchFamily="34" charset="0"/>
                <a:ea typeface="Calibri" pitchFamily="34" charset="-122"/>
                <a:cs typeface="Calibri" pitchFamily="34" charset="-120"/>
              </a:rPr>
              <a:t>2</a:t>
            </a:r>
            <a:endParaRPr lang="en-US" sz="3200" dirty="0"/>
          </a:p>
        </p:txBody>
      </p:sp>
      <p:sp>
        <p:nvSpPr>
          <p:cNvPr id="11" name="Text 9"/>
          <p:cNvSpPr txBox="1"/>
          <p:nvPr/>
        </p:nvSpPr>
        <p:spPr>
          <a:xfrm>
            <a:off x="4526280" y="2331720"/>
            <a:ext cx="3017520" cy="36576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Create project</a:t>
            </a:r>
            <a:endParaRPr lang="en-US" sz="1800" dirty="0"/>
          </a:p>
        </p:txBody>
      </p:sp>
      <p:sp>
        <p:nvSpPr>
          <p:cNvPr id="12" name="Text 10"/>
          <p:cNvSpPr txBox="1"/>
          <p:nvPr/>
        </p:nvSpPr>
        <p:spPr>
          <a:xfrm>
            <a:off x="4526280" y="2743200"/>
            <a:ext cx="3017520" cy="731520"/>
          </a:xfrm>
          <a:prstGeom prst="rect">
            <a:avLst/>
          </a:prstGeom>
          <a:noFill/>
          <a:ln/>
        </p:spPr>
        <p:txBody>
          <a:bodyPr wrap="square" lIns="0" tIns="0" rIns="0" bIns="0" rtlCol="0" anchor="t"/>
          <a:lstStyle/>
          <a:p>
            <a:pPr indent="0" marL="0">
              <a:buNone/>
            </a:pPr>
            <a:r>
              <a:rPr lang="en-US" sz="1300" dirty="0">
                <a:solidFill>
                  <a:srgbClr val="A8A8C4"/>
                </a:solidFill>
                <a:latin typeface="Calibri" pitchFamily="34" charset="0"/>
                <a:ea typeface="Calibri" pitchFamily="34" charset="-122"/>
                <a:cs typeface="Calibri" pitchFamily="34" charset="-120"/>
              </a:rPr>
              <a:t>Assets, Edit setup, New project. Repository path, base URL, routes.</a:t>
            </a:r>
            <a:endParaRPr lang="en-US" sz="1300" dirty="0"/>
          </a:p>
        </p:txBody>
      </p:sp>
      <p:sp>
        <p:nvSpPr>
          <p:cNvPr id="13" name="Shape 11"/>
          <p:cNvSpPr/>
          <p:nvPr/>
        </p:nvSpPr>
        <p:spPr>
          <a:xfrm>
            <a:off x="8046720" y="1554480"/>
            <a:ext cx="3474720" cy="2057400"/>
          </a:xfrm>
          <a:prstGeom prst="roundRect">
            <a:avLst>
              <a:gd name="adj" fmla="val 4444"/>
            </a:avLst>
          </a:prstGeom>
          <a:solidFill>
            <a:srgbClr val="15152A"/>
          </a:solidFill>
          <a:ln w="12700">
            <a:solidFill>
              <a:srgbClr val="2A2A4A"/>
            </a:solidFill>
            <a:prstDash val="solid"/>
          </a:ln>
        </p:spPr>
      </p:sp>
      <p:sp>
        <p:nvSpPr>
          <p:cNvPr id="14" name="Text 12"/>
          <p:cNvSpPr txBox="1"/>
          <p:nvPr/>
        </p:nvSpPr>
        <p:spPr>
          <a:xfrm>
            <a:off x="8275320" y="1737360"/>
            <a:ext cx="548640" cy="548640"/>
          </a:xfrm>
          <a:prstGeom prst="rect">
            <a:avLst/>
          </a:prstGeom>
          <a:noFill/>
          <a:ln/>
        </p:spPr>
        <p:txBody>
          <a:bodyPr wrap="square" lIns="0" tIns="0" rIns="0" bIns="0" rtlCol="0" anchor="ctr"/>
          <a:lstStyle/>
          <a:p>
            <a:pPr indent="0" marL="0">
              <a:buNone/>
            </a:pPr>
            <a:r>
              <a:rPr lang="en-US" sz="3200" b="1" dirty="0">
                <a:solidFill>
                  <a:srgbClr val="8B6CFF"/>
                </a:solidFill>
                <a:latin typeface="Calibri" pitchFamily="34" charset="0"/>
                <a:ea typeface="Calibri" pitchFamily="34" charset="-122"/>
                <a:cs typeface="Calibri" pitchFamily="34" charset="-120"/>
              </a:rPr>
              <a:t>3</a:t>
            </a:r>
            <a:endParaRPr lang="en-US" sz="3200" dirty="0"/>
          </a:p>
        </p:txBody>
      </p:sp>
      <p:sp>
        <p:nvSpPr>
          <p:cNvPr id="15" name="Text 13"/>
          <p:cNvSpPr txBox="1"/>
          <p:nvPr/>
        </p:nvSpPr>
        <p:spPr>
          <a:xfrm>
            <a:off x="8275320" y="2331720"/>
            <a:ext cx="3017520" cy="36576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Scan assets</a:t>
            </a:r>
            <a:endParaRPr lang="en-US" sz="1800" dirty="0"/>
          </a:p>
        </p:txBody>
      </p:sp>
      <p:sp>
        <p:nvSpPr>
          <p:cNvPr id="16" name="Text 14"/>
          <p:cNvSpPr txBox="1"/>
          <p:nvPr/>
        </p:nvSpPr>
        <p:spPr>
          <a:xfrm>
            <a:off x="8275320" y="2743200"/>
            <a:ext cx="3017520" cy="731520"/>
          </a:xfrm>
          <a:prstGeom prst="rect">
            <a:avLst/>
          </a:prstGeom>
          <a:noFill/>
          <a:ln/>
        </p:spPr>
        <p:txBody>
          <a:bodyPr wrap="square" lIns="0" tIns="0" rIns="0" bIns="0" rtlCol="0" anchor="t"/>
          <a:lstStyle/>
          <a:p>
            <a:pPr indent="0" marL="0">
              <a:buNone/>
            </a:pPr>
            <a:r>
              <a:rPr lang="en-US" sz="1300" dirty="0">
                <a:solidFill>
                  <a:srgbClr val="A8A8C4"/>
                </a:solidFill>
                <a:latin typeface="Calibri" pitchFamily="34" charset="0"/>
                <a:ea typeface="Calibri" pitchFamily="34" charset="-122"/>
                <a:cs typeface="Calibri" pitchFamily="34" charset="-120"/>
              </a:rPr>
              <a:t>Run a Full scan. Read unused, large and broken assets.</a:t>
            </a:r>
            <a:endParaRPr lang="en-US" sz="1300" dirty="0"/>
          </a:p>
        </p:txBody>
      </p:sp>
      <p:sp>
        <p:nvSpPr>
          <p:cNvPr id="17" name="Shape 15"/>
          <p:cNvSpPr/>
          <p:nvPr/>
        </p:nvSpPr>
        <p:spPr>
          <a:xfrm>
            <a:off x="548640" y="3886200"/>
            <a:ext cx="3474720" cy="2057400"/>
          </a:xfrm>
          <a:prstGeom prst="roundRect">
            <a:avLst>
              <a:gd name="adj" fmla="val 4444"/>
            </a:avLst>
          </a:prstGeom>
          <a:solidFill>
            <a:srgbClr val="15152A"/>
          </a:solidFill>
          <a:ln w="12700">
            <a:solidFill>
              <a:srgbClr val="2A2A4A"/>
            </a:solidFill>
            <a:prstDash val="solid"/>
          </a:ln>
        </p:spPr>
      </p:sp>
      <p:sp>
        <p:nvSpPr>
          <p:cNvPr id="18" name="Text 16"/>
          <p:cNvSpPr txBox="1"/>
          <p:nvPr/>
        </p:nvSpPr>
        <p:spPr>
          <a:xfrm>
            <a:off x="777240" y="4069080"/>
            <a:ext cx="548640" cy="548640"/>
          </a:xfrm>
          <a:prstGeom prst="rect">
            <a:avLst/>
          </a:prstGeom>
          <a:noFill/>
          <a:ln/>
        </p:spPr>
        <p:txBody>
          <a:bodyPr wrap="square" lIns="0" tIns="0" rIns="0" bIns="0" rtlCol="0" anchor="ctr"/>
          <a:lstStyle/>
          <a:p>
            <a:pPr indent="0" marL="0">
              <a:buNone/>
            </a:pPr>
            <a:r>
              <a:rPr lang="en-US" sz="3200" b="1" dirty="0">
                <a:solidFill>
                  <a:srgbClr val="8B6CFF"/>
                </a:solidFill>
                <a:latin typeface="Calibri" pitchFamily="34" charset="0"/>
                <a:ea typeface="Calibri" pitchFamily="34" charset="-122"/>
                <a:cs typeface="Calibri" pitchFamily="34" charset="-120"/>
              </a:rPr>
              <a:t>4</a:t>
            </a:r>
            <a:endParaRPr lang="en-US" sz="3200" dirty="0"/>
          </a:p>
        </p:txBody>
      </p:sp>
      <p:sp>
        <p:nvSpPr>
          <p:cNvPr id="19" name="Text 17"/>
          <p:cNvSpPr txBox="1"/>
          <p:nvPr/>
        </p:nvSpPr>
        <p:spPr>
          <a:xfrm>
            <a:off x="777240" y="4663440"/>
            <a:ext cx="3017520" cy="36576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Capture API calls</a:t>
            </a:r>
            <a:endParaRPr lang="en-US" sz="1800" dirty="0"/>
          </a:p>
        </p:txBody>
      </p:sp>
      <p:sp>
        <p:nvSpPr>
          <p:cNvPr id="20" name="Text 18"/>
          <p:cNvSpPr txBox="1"/>
          <p:nvPr/>
        </p:nvSpPr>
        <p:spPr>
          <a:xfrm>
            <a:off x="777240" y="5074920"/>
            <a:ext cx="3017520" cy="731520"/>
          </a:xfrm>
          <a:prstGeom prst="rect">
            <a:avLst/>
          </a:prstGeom>
          <a:noFill/>
          <a:ln/>
        </p:spPr>
        <p:txBody>
          <a:bodyPr wrap="square" lIns="0" tIns="0" rIns="0" bIns="0" rtlCol="0" anchor="t"/>
          <a:lstStyle/>
          <a:p>
            <a:pPr indent="0" marL="0">
              <a:buNone/>
            </a:pPr>
            <a:r>
              <a:rPr lang="en-US" sz="1300" dirty="0">
                <a:solidFill>
                  <a:srgbClr val="A8A8C4"/>
                </a:solidFill>
                <a:latin typeface="Calibri" pitchFamily="34" charset="0"/>
                <a:ea typeface="Calibri" pitchFamily="34" charset="-122"/>
                <a:cs typeface="Calibri" pitchFamily="34" charset="-120"/>
              </a:rPr>
              <a:t>API page, App capture. Per-route latency, errors, Apdex.</a:t>
            </a:r>
            <a:endParaRPr lang="en-US" sz="1300" dirty="0"/>
          </a:p>
        </p:txBody>
      </p:sp>
      <p:sp>
        <p:nvSpPr>
          <p:cNvPr id="21" name="Shape 19"/>
          <p:cNvSpPr/>
          <p:nvPr/>
        </p:nvSpPr>
        <p:spPr>
          <a:xfrm>
            <a:off x="4297680" y="3886200"/>
            <a:ext cx="3474720" cy="2057400"/>
          </a:xfrm>
          <a:prstGeom prst="roundRect">
            <a:avLst>
              <a:gd name="adj" fmla="val 4444"/>
            </a:avLst>
          </a:prstGeom>
          <a:solidFill>
            <a:srgbClr val="15152A"/>
          </a:solidFill>
          <a:ln w="12700">
            <a:solidFill>
              <a:srgbClr val="2A2A4A"/>
            </a:solidFill>
            <a:prstDash val="solid"/>
          </a:ln>
        </p:spPr>
      </p:sp>
      <p:sp>
        <p:nvSpPr>
          <p:cNvPr id="22" name="Text 20"/>
          <p:cNvSpPr txBox="1"/>
          <p:nvPr/>
        </p:nvSpPr>
        <p:spPr>
          <a:xfrm>
            <a:off x="4526280" y="4069080"/>
            <a:ext cx="548640" cy="548640"/>
          </a:xfrm>
          <a:prstGeom prst="rect">
            <a:avLst/>
          </a:prstGeom>
          <a:noFill/>
          <a:ln/>
        </p:spPr>
        <p:txBody>
          <a:bodyPr wrap="square" lIns="0" tIns="0" rIns="0" bIns="0" rtlCol="0" anchor="ctr"/>
          <a:lstStyle/>
          <a:p>
            <a:pPr indent="0" marL="0">
              <a:buNone/>
            </a:pPr>
            <a:r>
              <a:rPr lang="en-US" sz="3200" b="1" dirty="0">
                <a:solidFill>
                  <a:srgbClr val="8B6CFF"/>
                </a:solidFill>
                <a:latin typeface="Calibri" pitchFamily="34" charset="0"/>
                <a:ea typeface="Calibri" pitchFamily="34" charset="-122"/>
                <a:cs typeface="Calibri" pitchFamily="34" charset="-120"/>
              </a:rPr>
              <a:t>5</a:t>
            </a:r>
            <a:endParaRPr lang="en-US" sz="3200" dirty="0"/>
          </a:p>
        </p:txBody>
      </p:sp>
      <p:sp>
        <p:nvSpPr>
          <p:cNvPr id="23" name="Text 21"/>
          <p:cNvSpPr txBox="1"/>
          <p:nvPr/>
        </p:nvSpPr>
        <p:spPr>
          <a:xfrm>
            <a:off x="4526280" y="4663440"/>
            <a:ext cx="3017520" cy="36576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Read Services</a:t>
            </a:r>
            <a:endParaRPr lang="en-US" sz="1800" dirty="0"/>
          </a:p>
        </p:txBody>
      </p:sp>
      <p:sp>
        <p:nvSpPr>
          <p:cNvPr id="24" name="Text 22"/>
          <p:cNvSpPr txBox="1"/>
          <p:nvPr/>
        </p:nvSpPr>
        <p:spPr>
          <a:xfrm>
            <a:off x="4526280" y="5074920"/>
            <a:ext cx="3017520" cy="731520"/>
          </a:xfrm>
          <a:prstGeom prst="rect">
            <a:avLst/>
          </a:prstGeom>
          <a:noFill/>
          <a:ln/>
        </p:spPr>
        <p:txBody>
          <a:bodyPr wrap="square" lIns="0" tIns="0" rIns="0" bIns="0" rtlCol="0" anchor="t"/>
          <a:lstStyle/>
          <a:p>
            <a:pPr indent="0" marL="0">
              <a:buNone/>
            </a:pPr>
            <a:r>
              <a:rPr lang="en-US" sz="1300" dirty="0">
                <a:solidFill>
                  <a:srgbClr val="A8A8C4"/>
                </a:solidFill>
                <a:latin typeface="Calibri" pitchFamily="34" charset="0"/>
                <a:ea typeface="Calibri" pitchFamily="34" charset="-122"/>
                <a:cs typeface="Calibri" pitchFamily="34" charset="-120"/>
              </a:rPr>
              <a:t>One card for the app, built from the same capture.</a:t>
            </a:r>
            <a:endParaRPr lang="en-US" sz="1300" dirty="0"/>
          </a:p>
        </p:txBody>
      </p:sp>
      <p:sp>
        <p:nvSpPr>
          <p:cNvPr id="25" name="Shape 23"/>
          <p:cNvSpPr/>
          <p:nvPr/>
        </p:nvSpPr>
        <p:spPr>
          <a:xfrm>
            <a:off x="8046720" y="3886200"/>
            <a:ext cx="3474720" cy="2057400"/>
          </a:xfrm>
          <a:prstGeom prst="roundRect">
            <a:avLst>
              <a:gd name="adj" fmla="val 4444"/>
            </a:avLst>
          </a:prstGeom>
          <a:solidFill>
            <a:srgbClr val="15152A"/>
          </a:solidFill>
          <a:ln w="12700">
            <a:solidFill>
              <a:srgbClr val="2A2A4A"/>
            </a:solidFill>
            <a:prstDash val="solid"/>
          </a:ln>
        </p:spPr>
      </p:sp>
      <p:sp>
        <p:nvSpPr>
          <p:cNvPr id="26" name="Text 24"/>
          <p:cNvSpPr txBox="1"/>
          <p:nvPr/>
        </p:nvSpPr>
        <p:spPr>
          <a:xfrm>
            <a:off x="8275320" y="4069080"/>
            <a:ext cx="548640" cy="548640"/>
          </a:xfrm>
          <a:prstGeom prst="rect">
            <a:avLst/>
          </a:prstGeom>
          <a:noFill/>
          <a:ln/>
        </p:spPr>
        <p:txBody>
          <a:bodyPr wrap="square" lIns="0" tIns="0" rIns="0" bIns="0" rtlCol="0" anchor="ctr"/>
          <a:lstStyle/>
          <a:p>
            <a:pPr indent="0" marL="0">
              <a:buNone/>
            </a:pPr>
            <a:r>
              <a:rPr lang="en-US" sz="3200" b="1" dirty="0">
                <a:solidFill>
                  <a:srgbClr val="8B6CFF"/>
                </a:solidFill>
                <a:latin typeface="Calibri" pitchFamily="34" charset="0"/>
                <a:ea typeface="Calibri" pitchFamily="34" charset="-122"/>
                <a:cs typeface="Calibri" pitchFamily="34" charset="-120"/>
              </a:rPr>
              <a:t>6</a:t>
            </a:r>
            <a:endParaRPr lang="en-US" sz="3200" dirty="0"/>
          </a:p>
        </p:txBody>
      </p:sp>
      <p:sp>
        <p:nvSpPr>
          <p:cNvPr id="27" name="Text 25"/>
          <p:cNvSpPr txBox="1"/>
          <p:nvPr/>
        </p:nvSpPr>
        <p:spPr>
          <a:xfrm>
            <a:off x="8275320" y="4663440"/>
            <a:ext cx="3017520" cy="36576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Go live (optional)</a:t>
            </a:r>
            <a:endParaRPr lang="en-US" sz="1800" dirty="0"/>
          </a:p>
        </p:txBody>
      </p:sp>
      <p:sp>
        <p:nvSpPr>
          <p:cNvPr id="28" name="Text 26"/>
          <p:cNvSpPr txBox="1"/>
          <p:nvPr/>
        </p:nvSpPr>
        <p:spPr>
          <a:xfrm>
            <a:off x="8275320" y="5074920"/>
            <a:ext cx="3017520" cy="731520"/>
          </a:xfrm>
          <a:prstGeom prst="rect">
            <a:avLst/>
          </a:prstGeom>
          <a:noFill/>
          <a:ln/>
        </p:spPr>
        <p:txBody>
          <a:bodyPr wrap="square" lIns="0" tIns="0" rIns="0" bIns="0" rtlCol="0" anchor="t"/>
          <a:lstStyle/>
          <a:p>
            <a:pPr indent="0" marL="0">
              <a:buNone/>
            </a:pPr>
            <a:r>
              <a:rPr lang="en-US" sz="1300" dirty="0">
                <a:solidFill>
                  <a:srgbClr val="A8A8C4"/>
                </a:solidFill>
                <a:latin typeface="Calibri" pitchFamily="34" charset="0"/>
                <a:ea typeface="Calibri" pitchFamily="34" charset="-122"/>
                <a:cs typeface="Calibri" pitchFamily="34" charset="-120"/>
              </a:rPr>
              <a:t>Settings: key and snippet. Live traffic joins the same project.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SHOP API (SEEDED DEMO DATA)</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Step 1: Sign in and look at the demo project</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02920" y="1325880"/>
            <a:ext cx="4023360" cy="2439670"/>
          </a:xfrm>
          <a:prstGeom prst="roundRect">
            <a:avLst>
              <a:gd name="adj" fmla="val 2998"/>
            </a:avLst>
          </a:prstGeom>
          <a:solidFill>
            <a:srgbClr val="15152A"/>
          </a:solidFill>
          <a:ln w="12700">
            <a:solidFill>
              <a:srgbClr val="2A2A4A"/>
            </a:solidFill>
            <a:prstDash val="solid"/>
          </a:ln>
        </p:spPr>
      </p:sp>
      <p:pic>
        <p:nvPicPr>
          <p:cNvPr id="6" name="Image 0" descr="/Users/sakariyaanthony/Documents/GitHub/pulseops/pulseops-source/docs/poc/03-services.png">    </p:cNvPr>
          <p:cNvPicPr>
            <a:picLocks noChangeAspect="1"/>
          </p:cNvPicPr>
          <p:nvPr/>
        </p:nvPicPr>
        <p:blipFill>
          <a:blip r:embed="rId1"/>
          <a:stretch>
            <a:fillRect/>
          </a:stretch>
        </p:blipFill>
        <p:spPr>
          <a:xfrm>
            <a:off x="548640" y="1371600"/>
            <a:ext cx="3931920" cy="2348230"/>
          </a:xfrm>
          <a:prstGeom prst="rect">
            <a:avLst/>
          </a:prstGeom>
        </p:spPr>
      </p:pic>
      <p:sp>
        <p:nvSpPr>
          <p:cNvPr id="7" name="Shape 4"/>
          <p:cNvSpPr/>
          <p:nvPr/>
        </p:nvSpPr>
        <p:spPr>
          <a:xfrm>
            <a:off x="4617720" y="1325880"/>
            <a:ext cx="4023360" cy="2439670"/>
          </a:xfrm>
          <a:prstGeom prst="roundRect">
            <a:avLst>
              <a:gd name="adj" fmla="val 2998"/>
            </a:avLst>
          </a:prstGeom>
          <a:solidFill>
            <a:srgbClr val="15152A"/>
          </a:solidFill>
          <a:ln w="12700">
            <a:solidFill>
              <a:srgbClr val="2A2A4A"/>
            </a:solidFill>
            <a:prstDash val="solid"/>
          </a:ln>
        </p:spPr>
      </p:sp>
      <p:pic>
        <p:nvPicPr>
          <p:cNvPr id="8" name="Image 1" descr="/Users/sakariyaanthony/Documents/GitHub/pulseops/pulseops-source/docs/poc/04-api-live.png">    </p:cNvPr>
          <p:cNvPicPr>
            <a:picLocks noChangeAspect="1"/>
          </p:cNvPicPr>
          <p:nvPr/>
        </p:nvPicPr>
        <p:blipFill>
          <a:blip r:embed="rId2"/>
          <a:stretch>
            <a:fillRect/>
          </a:stretch>
        </p:blipFill>
        <p:spPr>
          <a:xfrm>
            <a:off x="4663440" y="1371600"/>
            <a:ext cx="3931920" cy="2348230"/>
          </a:xfrm>
          <a:prstGeom prst="rect">
            <a:avLst/>
          </a:prstGeom>
        </p:spPr>
      </p:pic>
      <p:sp>
        <p:nvSpPr>
          <p:cNvPr id="9" name="Shape 5"/>
          <p:cNvSpPr/>
          <p:nvPr/>
        </p:nvSpPr>
        <p:spPr>
          <a:xfrm>
            <a:off x="502920" y="3840480"/>
            <a:ext cx="4023360" cy="2439670"/>
          </a:xfrm>
          <a:prstGeom prst="roundRect">
            <a:avLst>
              <a:gd name="adj" fmla="val 2998"/>
            </a:avLst>
          </a:prstGeom>
          <a:solidFill>
            <a:srgbClr val="15152A"/>
          </a:solidFill>
          <a:ln w="12700">
            <a:solidFill>
              <a:srgbClr val="2A2A4A"/>
            </a:solidFill>
            <a:prstDash val="solid"/>
          </a:ln>
        </p:spPr>
      </p:sp>
      <p:pic>
        <p:nvPicPr>
          <p:cNvPr id="10" name="Image 2" descr="/Users/sakariyaanthony/Documents/GitHub/pulseops/pulseops-source/docs/poc/05-errors.png">    </p:cNvPr>
          <p:cNvPicPr>
            <a:picLocks noChangeAspect="1"/>
          </p:cNvPicPr>
          <p:nvPr/>
        </p:nvPicPr>
        <p:blipFill>
          <a:blip r:embed="rId3"/>
          <a:stretch>
            <a:fillRect/>
          </a:stretch>
        </p:blipFill>
        <p:spPr>
          <a:xfrm>
            <a:off x="548640" y="3886200"/>
            <a:ext cx="3931920" cy="2348230"/>
          </a:xfrm>
          <a:prstGeom prst="rect">
            <a:avLst/>
          </a:prstGeom>
        </p:spPr>
      </p:pic>
      <p:sp>
        <p:nvSpPr>
          <p:cNvPr id="11" name="Shape 6"/>
          <p:cNvSpPr/>
          <p:nvPr/>
        </p:nvSpPr>
        <p:spPr>
          <a:xfrm>
            <a:off x="4617720" y="3840480"/>
            <a:ext cx="4023360" cy="2439670"/>
          </a:xfrm>
          <a:prstGeom prst="roundRect">
            <a:avLst>
              <a:gd name="adj" fmla="val 2998"/>
            </a:avLst>
          </a:prstGeom>
          <a:solidFill>
            <a:srgbClr val="15152A"/>
          </a:solidFill>
          <a:ln w="12700">
            <a:solidFill>
              <a:srgbClr val="2A2A4A"/>
            </a:solidFill>
            <a:prstDash val="solid"/>
          </a:ln>
        </p:spPr>
      </p:sp>
      <p:pic>
        <p:nvPicPr>
          <p:cNvPr id="12" name="Image 3" descr="/Users/sakariyaanthony/Documents/GitHub/pulseops/pulseops-source/docs/poc/06-insights.png">    </p:cNvPr>
          <p:cNvPicPr>
            <a:picLocks noChangeAspect="1"/>
          </p:cNvPicPr>
          <p:nvPr/>
        </p:nvPicPr>
        <p:blipFill>
          <a:blip r:embed="rId4"/>
          <a:stretch>
            <a:fillRect/>
          </a:stretch>
        </p:blipFill>
        <p:spPr>
          <a:xfrm>
            <a:off x="4663440" y="3886200"/>
            <a:ext cx="3931920" cy="2348230"/>
          </a:xfrm>
          <a:prstGeom prst="rect">
            <a:avLst/>
          </a:prstGeom>
        </p:spPr>
      </p:pic>
      <p:sp>
        <p:nvSpPr>
          <p:cNvPr id="13" name="Text 7"/>
          <p:cNvSpPr txBox="1"/>
          <p:nvPr/>
        </p:nvSpPr>
        <p:spPr>
          <a:xfrm>
            <a:off x="9235440" y="1371600"/>
            <a:ext cx="2651760" cy="320040"/>
          </a:xfrm>
          <a:prstGeom prst="rect">
            <a:avLst/>
          </a:prstGeom>
          <a:noFill/>
          <a:ln/>
        </p:spPr>
        <p:txBody>
          <a:bodyPr wrap="square" lIns="0" tIns="0" rIns="0" bIns="0" rtlCol="0" anchor="ctr"/>
          <a:lstStyle/>
          <a:p>
            <a:pPr indent="0" marL="0">
              <a:buNone/>
            </a:pPr>
            <a:r>
              <a:rPr lang="en-US" sz="1600" b="1" dirty="0">
                <a:solidFill>
                  <a:srgbClr val="F4F4FA"/>
                </a:solidFill>
                <a:latin typeface="Calibri" pitchFamily="34" charset="0"/>
                <a:ea typeface="Calibri" pitchFamily="34" charset="-122"/>
                <a:cs typeface="Calibri" pitchFamily="34" charset="-120"/>
              </a:rPr>
              <a:t>What each page answers</a:t>
            </a:r>
            <a:endParaRPr lang="en-US" sz="1600" dirty="0"/>
          </a:p>
        </p:txBody>
      </p:sp>
      <p:sp>
        <p:nvSpPr>
          <p:cNvPr id="14" name="Text 8"/>
          <p:cNvSpPr txBox="1"/>
          <p:nvPr/>
        </p:nvSpPr>
        <p:spPr>
          <a:xfrm>
            <a:off x="9235440" y="1874520"/>
            <a:ext cx="2468880" cy="4206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Services: health, latency and error rate per service</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API: every route with calls, average, p95, p99, errors, Apdex</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Errors: grouped by fingerprint, with a trend</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Insights: slow routes and error hotspots ranked by severity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ASSETS, EDIT SETUP, NEW PROJECT</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Step 2: Create one project for the app</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02920" y="1280160"/>
            <a:ext cx="2847399" cy="5029200"/>
          </a:xfrm>
          <a:prstGeom prst="roundRect">
            <a:avLst>
              <a:gd name="adj" fmla="val 2569"/>
            </a:avLst>
          </a:prstGeom>
          <a:solidFill>
            <a:srgbClr val="15152A"/>
          </a:solidFill>
          <a:ln w="12700">
            <a:solidFill>
              <a:srgbClr val="2A2A4A"/>
            </a:solidFill>
            <a:prstDash val="solid"/>
          </a:ln>
        </p:spPr>
      </p:sp>
      <p:pic>
        <p:nvPicPr>
          <p:cNvPr id="6" name="Image 0" descr="/Users/sakariyaanthony/Documents/GitHub/pulseops/pulseops-source/docs/poc/c-setup.png">    </p:cNvPr>
          <p:cNvPicPr>
            <a:picLocks noChangeAspect="1"/>
          </p:cNvPicPr>
          <p:nvPr/>
        </p:nvPicPr>
        <p:blipFill>
          <a:blip r:embed="rId1"/>
          <a:stretch>
            <a:fillRect/>
          </a:stretch>
        </p:blipFill>
        <p:spPr>
          <a:xfrm>
            <a:off x="548640" y="1325880"/>
            <a:ext cx="2755959" cy="4937760"/>
          </a:xfrm>
          <a:prstGeom prst="rect">
            <a:avLst/>
          </a:prstGeom>
        </p:spPr>
      </p:pic>
      <p:sp>
        <p:nvSpPr>
          <p:cNvPr id="7" name="Shape 4"/>
          <p:cNvSpPr/>
          <p:nvPr/>
        </p:nvSpPr>
        <p:spPr>
          <a:xfrm>
            <a:off x="3703320" y="1280160"/>
            <a:ext cx="4783897" cy="4297680"/>
          </a:xfrm>
          <a:prstGeom prst="roundRect">
            <a:avLst>
              <a:gd name="adj" fmla="val 1702"/>
            </a:avLst>
          </a:prstGeom>
          <a:solidFill>
            <a:srgbClr val="15152A"/>
          </a:solidFill>
          <a:ln w="12700">
            <a:solidFill>
              <a:srgbClr val="2A2A4A"/>
            </a:solidFill>
            <a:prstDash val="solid"/>
          </a:ln>
        </p:spPr>
      </p:sp>
      <p:pic>
        <p:nvPicPr>
          <p:cNvPr id="8" name="Image 1" descr="/Users/sakariyaanthony/Documents/GitHub/pulseops/pulseops-source/docs/poc/c-key.png">    </p:cNvPr>
          <p:cNvPicPr>
            <a:picLocks noChangeAspect="1"/>
          </p:cNvPicPr>
          <p:nvPr/>
        </p:nvPicPr>
        <p:blipFill>
          <a:blip r:embed="rId2"/>
          <a:stretch>
            <a:fillRect/>
          </a:stretch>
        </p:blipFill>
        <p:spPr>
          <a:xfrm>
            <a:off x="3749040" y="1325880"/>
            <a:ext cx="4692457" cy="4206240"/>
          </a:xfrm>
          <a:prstGeom prst="rect">
            <a:avLst/>
          </a:prstGeom>
        </p:spPr>
      </p:pic>
      <p:sp>
        <p:nvSpPr>
          <p:cNvPr id="9" name="Text 5"/>
          <p:cNvSpPr txBox="1"/>
          <p:nvPr/>
        </p:nvSpPr>
        <p:spPr>
          <a:xfrm>
            <a:off x="8549640" y="1325880"/>
            <a:ext cx="3108960" cy="64008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Create once, then everything hangs off it</a:t>
            </a:r>
            <a:endParaRPr lang="en-US" sz="1800" dirty="0"/>
          </a:p>
        </p:txBody>
      </p:sp>
      <p:sp>
        <p:nvSpPr>
          <p:cNvPr id="10" name="Text 6"/>
          <p:cNvSpPr txBox="1"/>
          <p:nvPr/>
        </p:nvSpPr>
        <p:spPr>
          <a:xfrm>
            <a:off x="8549640" y="2194560"/>
            <a:ext cx="3108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Name, repository path, base URL and routes are saved with the project</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The key and SDK snippet appear once, ready to copy. Skipping is fine</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A name that already exists is refused, so one app stays one entry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ASSETS, FULL SCAN</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Step 3: Scan the assets</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02920" y="1280160"/>
            <a:ext cx="7315200" cy="4048804"/>
          </a:xfrm>
          <a:prstGeom prst="roundRect">
            <a:avLst>
              <a:gd name="adj" fmla="val 1807"/>
            </a:avLst>
          </a:prstGeom>
          <a:solidFill>
            <a:srgbClr val="15152A"/>
          </a:solidFill>
          <a:ln w="12700">
            <a:solidFill>
              <a:srgbClr val="2A2A4A"/>
            </a:solidFill>
            <a:prstDash val="solid"/>
          </a:ln>
        </p:spPr>
      </p:sp>
      <p:pic>
        <p:nvPicPr>
          <p:cNvPr id="6" name="Image 0" descr="/Users/sakariyaanthony/Documents/GitHub/pulseops/pulseops-source/docs/poc/c-assets.png">    </p:cNvPr>
          <p:cNvPicPr>
            <a:picLocks noChangeAspect="1"/>
          </p:cNvPicPr>
          <p:nvPr/>
        </p:nvPicPr>
        <p:blipFill>
          <a:blip r:embed="rId1"/>
          <a:stretch>
            <a:fillRect/>
          </a:stretch>
        </p:blipFill>
        <p:spPr>
          <a:xfrm>
            <a:off x="548640" y="1325880"/>
            <a:ext cx="7223760" cy="3957364"/>
          </a:xfrm>
          <a:prstGeom prst="rect">
            <a:avLst/>
          </a:prstGeom>
        </p:spPr>
      </p:pic>
      <p:sp>
        <p:nvSpPr>
          <p:cNvPr id="7" name="Text 4"/>
          <p:cNvSpPr txBox="1"/>
          <p:nvPr/>
        </p:nvSpPr>
        <p:spPr>
          <a:xfrm>
            <a:off x="8503920" y="1325880"/>
            <a:ext cx="3108960" cy="32004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What the scan found</a:t>
            </a:r>
            <a:endParaRPr lang="en-US" sz="1800" dirty="0"/>
          </a:p>
        </p:txBody>
      </p:sp>
      <p:sp>
        <p:nvSpPr>
          <p:cNvPr id="8" name="Text 5"/>
          <p:cNvSpPr txBox="1"/>
          <p:nvPr/>
        </p:nvSpPr>
        <p:spPr>
          <a:xfrm>
            <a:off x="8503920" y="1828800"/>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Reads the repository and opens the routes in Chromium</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Compares what the code references with what the browser loaded</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Files neither saw are marked potentially unused, not deleted</a:t>
            </a:r>
            <a:endParaRPr lang="en-US" sz="1300" dirty="0"/>
          </a:p>
        </p:txBody>
      </p:sp>
      <p:sp>
        <p:nvSpPr>
          <p:cNvPr id="9" name="Shape 6"/>
          <p:cNvSpPr/>
          <p:nvPr/>
        </p:nvSpPr>
        <p:spPr>
          <a:xfrm>
            <a:off x="548640" y="5486400"/>
            <a:ext cx="1691640" cy="868680"/>
          </a:xfrm>
          <a:prstGeom prst="roundRect">
            <a:avLst>
              <a:gd name="adj" fmla="val 8421"/>
            </a:avLst>
          </a:prstGeom>
          <a:solidFill>
            <a:srgbClr val="15152A"/>
          </a:solidFill>
          <a:ln w="12700">
            <a:solidFill>
              <a:srgbClr val="2A2A4A"/>
            </a:solidFill>
            <a:prstDash val="solid"/>
          </a:ln>
        </p:spPr>
      </p:sp>
      <p:sp>
        <p:nvSpPr>
          <p:cNvPr id="10" name="Text 7"/>
          <p:cNvSpPr txBox="1"/>
          <p:nvPr/>
        </p:nvSpPr>
        <p:spPr>
          <a:xfrm>
            <a:off x="685800" y="5559552"/>
            <a:ext cx="1417320" cy="411480"/>
          </a:xfrm>
          <a:prstGeom prst="rect">
            <a:avLst/>
          </a:prstGeom>
          <a:noFill/>
          <a:ln/>
        </p:spPr>
        <p:txBody>
          <a:bodyPr wrap="square" lIns="0" tIns="0" rIns="0" bIns="0" rtlCol="0" anchor="ctr"/>
          <a:lstStyle/>
          <a:p>
            <a:pPr indent="0" marL="0">
              <a:buNone/>
            </a:pPr>
            <a:r>
              <a:rPr lang="en-US" sz="2200" b="1" dirty="0">
                <a:solidFill>
                  <a:srgbClr val="F4F4FA"/>
                </a:solidFill>
                <a:latin typeface="Calibri" pitchFamily="34" charset="0"/>
                <a:ea typeface="Calibri" pitchFamily="34" charset="-122"/>
                <a:cs typeface="Calibri" pitchFamily="34" charset="-120"/>
              </a:rPr>
              <a:t>4</a:t>
            </a:r>
            <a:endParaRPr lang="en-US" sz="2200" dirty="0"/>
          </a:p>
        </p:txBody>
      </p:sp>
      <p:sp>
        <p:nvSpPr>
          <p:cNvPr id="11" name="Text 8"/>
          <p:cNvSpPr txBox="1"/>
          <p:nvPr/>
        </p:nvSpPr>
        <p:spPr>
          <a:xfrm>
            <a:off x="685800" y="5989320"/>
            <a:ext cx="141732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assets found</a:t>
            </a:r>
            <a:endParaRPr lang="en-US" sz="1100" dirty="0"/>
          </a:p>
        </p:txBody>
      </p:sp>
      <p:sp>
        <p:nvSpPr>
          <p:cNvPr id="12" name="Shape 9"/>
          <p:cNvSpPr/>
          <p:nvPr/>
        </p:nvSpPr>
        <p:spPr>
          <a:xfrm>
            <a:off x="2377440" y="5486400"/>
            <a:ext cx="1691640" cy="868680"/>
          </a:xfrm>
          <a:prstGeom prst="roundRect">
            <a:avLst>
              <a:gd name="adj" fmla="val 8421"/>
            </a:avLst>
          </a:prstGeom>
          <a:solidFill>
            <a:srgbClr val="15152A"/>
          </a:solidFill>
          <a:ln w="12700">
            <a:solidFill>
              <a:srgbClr val="2A2A4A"/>
            </a:solidFill>
            <a:prstDash val="solid"/>
          </a:ln>
        </p:spPr>
      </p:sp>
      <p:sp>
        <p:nvSpPr>
          <p:cNvPr id="13" name="Text 10"/>
          <p:cNvSpPr txBox="1"/>
          <p:nvPr/>
        </p:nvSpPr>
        <p:spPr>
          <a:xfrm>
            <a:off x="2514600" y="5559552"/>
            <a:ext cx="1417320" cy="411480"/>
          </a:xfrm>
          <a:prstGeom prst="rect">
            <a:avLst/>
          </a:prstGeom>
          <a:noFill/>
          <a:ln/>
        </p:spPr>
        <p:txBody>
          <a:bodyPr wrap="square" lIns="0" tIns="0" rIns="0" bIns="0" rtlCol="0" anchor="ctr"/>
          <a:lstStyle/>
          <a:p>
            <a:pPr indent="0" marL="0">
              <a:buNone/>
            </a:pPr>
            <a:r>
              <a:rPr lang="en-US" sz="2200" b="1" dirty="0">
                <a:solidFill>
                  <a:srgbClr val="FBBF24"/>
                </a:solidFill>
                <a:latin typeface="Calibri" pitchFamily="34" charset="0"/>
                <a:ea typeface="Calibri" pitchFamily="34" charset="-122"/>
                <a:cs typeface="Calibri" pitchFamily="34" charset="-120"/>
              </a:rPr>
              <a:t>2</a:t>
            </a:r>
            <a:endParaRPr lang="en-US" sz="2200" dirty="0"/>
          </a:p>
        </p:txBody>
      </p:sp>
      <p:sp>
        <p:nvSpPr>
          <p:cNvPr id="14" name="Text 11"/>
          <p:cNvSpPr txBox="1"/>
          <p:nvPr/>
        </p:nvSpPr>
        <p:spPr>
          <a:xfrm>
            <a:off x="2514600" y="5989320"/>
            <a:ext cx="141732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unused, 2.0 MB</a:t>
            </a:r>
            <a:endParaRPr lang="en-US" sz="1100" dirty="0"/>
          </a:p>
        </p:txBody>
      </p:sp>
      <p:sp>
        <p:nvSpPr>
          <p:cNvPr id="15" name="Shape 12"/>
          <p:cNvSpPr/>
          <p:nvPr/>
        </p:nvSpPr>
        <p:spPr>
          <a:xfrm>
            <a:off x="4206240" y="5486400"/>
            <a:ext cx="1691640" cy="868680"/>
          </a:xfrm>
          <a:prstGeom prst="roundRect">
            <a:avLst>
              <a:gd name="adj" fmla="val 8421"/>
            </a:avLst>
          </a:prstGeom>
          <a:solidFill>
            <a:srgbClr val="15152A"/>
          </a:solidFill>
          <a:ln w="12700">
            <a:solidFill>
              <a:srgbClr val="2A2A4A"/>
            </a:solidFill>
            <a:prstDash val="solid"/>
          </a:ln>
        </p:spPr>
      </p:sp>
      <p:sp>
        <p:nvSpPr>
          <p:cNvPr id="16" name="Text 13"/>
          <p:cNvSpPr txBox="1"/>
          <p:nvPr/>
        </p:nvSpPr>
        <p:spPr>
          <a:xfrm>
            <a:off x="4343400" y="5559552"/>
            <a:ext cx="1417320" cy="411480"/>
          </a:xfrm>
          <a:prstGeom prst="rect">
            <a:avLst/>
          </a:prstGeom>
          <a:noFill/>
          <a:ln/>
        </p:spPr>
        <p:txBody>
          <a:bodyPr wrap="square" lIns="0" tIns="0" rIns="0" bIns="0" rtlCol="0" anchor="ctr"/>
          <a:lstStyle/>
          <a:p>
            <a:pPr indent="0" marL="0">
              <a:buNone/>
            </a:pPr>
            <a:r>
              <a:rPr lang="en-US" sz="2200" b="1" dirty="0">
                <a:solidFill>
                  <a:srgbClr val="FBBF24"/>
                </a:solidFill>
                <a:latin typeface="Calibri" pitchFamily="34" charset="0"/>
                <a:ea typeface="Calibri" pitchFamily="34" charset="-122"/>
                <a:cs typeface="Calibri" pitchFamily="34" charset="-120"/>
              </a:rPr>
              <a:t>2</a:t>
            </a:r>
            <a:endParaRPr lang="en-US" sz="2200" dirty="0"/>
          </a:p>
        </p:txBody>
      </p:sp>
      <p:sp>
        <p:nvSpPr>
          <p:cNvPr id="17" name="Text 14"/>
          <p:cNvSpPr txBox="1"/>
          <p:nvPr/>
        </p:nvSpPr>
        <p:spPr>
          <a:xfrm>
            <a:off x="4343400" y="5989320"/>
            <a:ext cx="141732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large images, 4.0 MB</a:t>
            </a:r>
            <a:endParaRPr lang="en-US" sz="1100" dirty="0"/>
          </a:p>
        </p:txBody>
      </p:sp>
      <p:sp>
        <p:nvSpPr>
          <p:cNvPr id="18" name="Shape 15"/>
          <p:cNvSpPr/>
          <p:nvPr/>
        </p:nvSpPr>
        <p:spPr>
          <a:xfrm>
            <a:off x="6035040" y="5486400"/>
            <a:ext cx="1691640" cy="868680"/>
          </a:xfrm>
          <a:prstGeom prst="roundRect">
            <a:avLst>
              <a:gd name="adj" fmla="val 8421"/>
            </a:avLst>
          </a:prstGeom>
          <a:solidFill>
            <a:srgbClr val="15152A"/>
          </a:solidFill>
          <a:ln w="12700">
            <a:solidFill>
              <a:srgbClr val="2A2A4A"/>
            </a:solidFill>
            <a:prstDash val="solid"/>
          </a:ln>
        </p:spPr>
      </p:sp>
      <p:sp>
        <p:nvSpPr>
          <p:cNvPr id="19" name="Text 16"/>
          <p:cNvSpPr txBox="1"/>
          <p:nvPr/>
        </p:nvSpPr>
        <p:spPr>
          <a:xfrm>
            <a:off x="6172200" y="5559552"/>
            <a:ext cx="1417320" cy="411480"/>
          </a:xfrm>
          <a:prstGeom prst="rect">
            <a:avLst/>
          </a:prstGeom>
          <a:noFill/>
          <a:ln/>
        </p:spPr>
        <p:txBody>
          <a:bodyPr wrap="square" lIns="0" tIns="0" rIns="0" bIns="0" rtlCol="0" anchor="ctr"/>
          <a:lstStyle/>
          <a:p>
            <a:pPr indent="0" marL="0">
              <a:buNone/>
            </a:pPr>
            <a:r>
              <a:rPr lang="en-US" sz="2200" b="1" dirty="0">
                <a:solidFill>
                  <a:srgbClr val="F43F5E"/>
                </a:solidFill>
                <a:latin typeface="Calibri" pitchFamily="34" charset="0"/>
                <a:ea typeface="Calibri" pitchFamily="34" charset="-122"/>
                <a:cs typeface="Calibri" pitchFamily="34" charset="-120"/>
              </a:rPr>
              <a:t>1</a:t>
            </a:r>
            <a:endParaRPr lang="en-US" sz="2200" dirty="0"/>
          </a:p>
        </p:txBody>
      </p:sp>
      <p:sp>
        <p:nvSpPr>
          <p:cNvPr id="20" name="Text 17"/>
          <p:cNvSpPr txBox="1"/>
          <p:nvPr/>
        </p:nvSpPr>
        <p:spPr>
          <a:xfrm>
            <a:off x="6172200" y="5989320"/>
            <a:ext cx="141732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failed request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API, APP CAPTURE</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Step 4: Capture API calls without touching the app</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02920" y="1280160"/>
            <a:ext cx="7863840" cy="4733290"/>
          </a:xfrm>
          <a:prstGeom prst="roundRect">
            <a:avLst>
              <a:gd name="adj" fmla="val 1545"/>
            </a:avLst>
          </a:prstGeom>
          <a:solidFill>
            <a:srgbClr val="15152A"/>
          </a:solidFill>
          <a:ln w="12700">
            <a:solidFill>
              <a:srgbClr val="2A2A4A"/>
            </a:solidFill>
            <a:prstDash val="solid"/>
          </a:ln>
        </p:spPr>
      </p:sp>
      <p:pic>
        <p:nvPicPr>
          <p:cNvPr id="6" name="Image 0" descr="/Users/sakariyaanthony/Documents/GitHub/pulseops/pulseops-source/docs/poc/14-api-captured.png">    </p:cNvPr>
          <p:cNvPicPr>
            <a:picLocks noChangeAspect="1"/>
          </p:cNvPicPr>
          <p:nvPr/>
        </p:nvPicPr>
        <p:blipFill>
          <a:blip r:embed="rId1"/>
          <a:stretch>
            <a:fillRect/>
          </a:stretch>
        </p:blipFill>
        <p:spPr>
          <a:xfrm>
            <a:off x="548640" y="1325880"/>
            <a:ext cx="7772400" cy="4641850"/>
          </a:xfrm>
          <a:prstGeom prst="rect">
            <a:avLst/>
          </a:prstGeom>
        </p:spPr>
      </p:pic>
      <p:sp>
        <p:nvSpPr>
          <p:cNvPr id="7" name="Text 4"/>
          <p:cNvSpPr txBox="1"/>
          <p:nvPr/>
        </p:nvSpPr>
        <p:spPr>
          <a:xfrm>
            <a:off x="8686800" y="1325880"/>
            <a:ext cx="3017520" cy="32004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How the capture works</a:t>
            </a:r>
            <a:endParaRPr lang="en-US" sz="1800" dirty="0"/>
          </a:p>
        </p:txBody>
      </p:sp>
      <p:sp>
        <p:nvSpPr>
          <p:cNvPr id="8" name="Text 5"/>
          <p:cNvSpPr txBox="1"/>
          <p:nvPr/>
        </p:nvSpPr>
        <p:spPr>
          <a:xfrm>
            <a:off x="8686800" y="182880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Press Capture API calls. PulseOps opens the app and records every API call it makes</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Per route: calls, average, p95, p99, error rate and Apdex</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p95 needs 5 samples and p99 needs 20, otherwise a dash</a:t>
            </a:r>
            <a:endParaRPr lang="en-US" sz="1300" dirty="0"/>
          </a:p>
          <a:p>
            <a:pPr marL="342900" indent="-342900">
              <a:spcAft>
                <a:spcPts val="800"/>
              </a:spcAft>
              <a:buSzPct val="100000"/>
              <a:buChar char="•"/>
            </a:pPr>
            <a:r>
              <a:rPr lang="en-US" sz="1300" dirty="0">
                <a:solidFill>
                  <a:srgbClr val="F4F4FA"/>
                </a:solidFill>
                <a:latin typeface="Calibri" pitchFamily="34" charset="0"/>
                <a:ea typeface="Calibri" pitchFamily="34" charset="-122"/>
                <a:cs typeface="Calibri" pitchFamily="34" charset="-120"/>
              </a:rPr>
              <a:t>A snapshot of that run, labelled as such</a:t>
            </a:r>
            <a:endParaRPr lang="en-US" sz="1300" dirty="0"/>
          </a:p>
        </p:txBody>
      </p:sp>
      <p:sp>
        <p:nvSpPr>
          <p:cNvPr id="9" name="Text 6"/>
          <p:cNvSpPr txBox="1"/>
          <p:nvPr/>
        </p:nvSpPr>
        <p:spPr>
          <a:xfrm>
            <a:off x="8686800" y="5212080"/>
            <a:ext cx="3017520" cy="548640"/>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The app must already be running at the base URL.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SERVICES</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Step 5: One service card for the project</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074920" y="1280160"/>
            <a:ext cx="6583680" cy="3968750"/>
          </a:xfrm>
          <a:prstGeom prst="roundRect">
            <a:avLst>
              <a:gd name="adj" fmla="val 1843"/>
            </a:avLst>
          </a:prstGeom>
          <a:solidFill>
            <a:srgbClr val="15152A"/>
          </a:solidFill>
          <a:ln w="12700">
            <a:solidFill>
              <a:srgbClr val="2A2A4A"/>
            </a:solidFill>
            <a:prstDash val="solid"/>
          </a:ln>
        </p:spPr>
      </p:sp>
      <p:pic>
        <p:nvPicPr>
          <p:cNvPr id="6" name="Image 0" descr="/Users/sakariyaanthony/Documents/GitHub/pulseops/pulseops-source/docs/poc/15-services-captured.png">    </p:cNvPr>
          <p:cNvPicPr>
            <a:picLocks noChangeAspect="1"/>
          </p:cNvPicPr>
          <p:nvPr/>
        </p:nvPicPr>
        <p:blipFill>
          <a:blip r:embed="rId1"/>
          <a:stretch>
            <a:fillRect/>
          </a:stretch>
        </p:blipFill>
        <p:spPr>
          <a:xfrm>
            <a:off x="5120640" y="1325880"/>
            <a:ext cx="6492240" cy="3877310"/>
          </a:xfrm>
          <a:prstGeom prst="rect">
            <a:avLst/>
          </a:prstGeom>
        </p:spPr>
      </p:pic>
      <p:sp>
        <p:nvSpPr>
          <p:cNvPr id="7" name="Text 4"/>
          <p:cNvSpPr txBox="1"/>
          <p:nvPr/>
        </p:nvSpPr>
        <p:spPr>
          <a:xfrm>
            <a:off x="548640" y="1371600"/>
            <a:ext cx="4206240" cy="32004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Built from the same capture</a:t>
            </a:r>
            <a:endParaRPr lang="en-US" sz="1800" dirty="0"/>
          </a:p>
        </p:txBody>
      </p:sp>
      <p:sp>
        <p:nvSpPr>
          <p:cNvPr id="8" name="Text 5"/>
          <p:cNvSpPr txBox="1"/>
          <p:nvPr/>
        </p:nvSpPr>
        <p:spPr>
          <a:xfrm>
            <a:off x="548640" y="1920240"/>
            <a:ext cx="42062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One card per app, named after the project</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Latency is weighted by calls on routes with samples</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Health: critical at 5% errors or more, degraded at 1% errors or latency over 800 ms</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Clicking the card opens the API page on the capture</a:t>
            </a:r>
            <a:endParaRPr lang="en-US" sz="1400" dirty="0"/>
          </a:p>
        </p:txBody>
      </p:sp>
      <p:sp>
        <p:nvSpPr>
          <p:cNvPr id="9" name="Shape 6"/>
          <p:cNvSpPr/>
          <p:nvPr/>
        </p:nvSpPr>
        <p:spPr>
          <a:xfrm>
            <a:off x="548640" y="4846320"/>
            <a:ext cx="1325880" cy="868680"/>
          </a:xfrm>
          <a:prstGeom prst="roundRect">
            <a:avLst>
              <a:gd name="adj" fmla="val 8421"/>
            </a:avLst>
          </a:prstGeom>
          <a:solidFill>
            <a:srgbClr val="15152A"/>
          </a:solidFill>
          <a:ln w="12700">
            <a:solidFill>
              <a:srgbClr val="2A2A4A"/>
            </a:solidFill>
            <a:prstDash val="solid"/>
          </a:ln>
        </p:spPr>
      </p:sp>
      <p:sp>
        <p:nvSpPr>
          <p:cNvPr id="10" name="Text 7"/>
          <p:cNvSpPr txBox="1"/>
          <p:nvPr/>
        </p:nvSpPr>
        <p:spPr>
          <a:xfrm>
            <a:off x="685800" y="4919472"/>
            <a:ext cx="1051560" cy="411480"/>
          </a:xfrm>
          <a:prstGeom prst="rect">
            <a:avLst/>
          </a:prstGeom>
          <a:noFill/>
          <a:ln/>
        </p:spPr>
        <p:txBody>
          <a:bodyPr wrap="square" lIns="0" tIns="0" rIns="0" bIns="0" rtlCol="0" anchor="ctr"/>
          <a:lstStyle/>
          <a:p>
            <a:pPr indent="0" marL="0">
              <a:buNone/>
            </a:pPr>
            <a:r>
              <a:rPr lang="en-US" sz="2200" b="1" dirty="0">
                <a:solidFill>
                  <a:srgbClr val="F4F4FA"/>
                </a:solidFill>
                <a:latin typeface="Calibri" pitchFamily="34" charset="0"/>
                <a:ea typeface="Calibri" pitchFamily="34" charset="-122"/>
                <a:cs typeface="Calibri" pitchFamily="34" charset="-120"/>
              </a:rPr>
              <a:t>280 ms</a:t>
            </a:r>
            <a:endParaRPr lang="en-US" sz="2200" dirty="0"/>
          </a:p>
        </p:txBody>
      </p:sp>
      <p:sp>
        <p:nvSpPr>
          <p:cNvPr id="11" name="Text 8"/>
          <p:cNvSpPr txBox="1"/>
          <p:nvPr/>
        </p:nvSpPr>
        <p:spPr>
          <a:xfrm>
            <a:off x="685800" y="5349240"/>
            <a:ext cx="105156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latency</a:t>
            </a:r>
            <a:endParaRPr lang="en-US" sz="1100" dirty="0"/>
          </a:p>
        </p:txBody>
      </p:sp>
      <p:sp>
        <p:nvSpPr>
          <p:cNvPr id="12" name="Shape 9"/>
          <p:cNvSpPr/>
          <p:nvPr/>
        </p:nvSpPr>
        <p:spPr>
          <a:xfrm>
            <a:off x="2011680" y="4846320"/>
            <a:ext cx="1325880" cy="868680"/>
          </a:xfrm>
          <a:prstGeom prst="roundRect">
            <a:avLst>
              <a:gd name="adj" fmla="val 8421"/>
            </a:avLst>
          </a:prstGeom>
          <a:solidFill>
            <a:srgbClr val="15152A"/>
          </a:solidFill>
          <a:ln w="12700">
            <a:solidFill>
              <a:srgbClr val="2A2A4A"/>
            </a:solidFill>
            <a:prstDash val="solid"/>
          </a:ln>
        </p:spPr>
      </p:sp>
      <p:sp>
        <p:nvSpPr>
          <p:cNvPr id="13" name="Text 10"/>
          <p:cNvSpPr txBox="1"/>
          <p:nvPr/>
        </p:nvSpPr>
        <p:spPr>
          <a:xfrm>
            <a:off x="2148840" y="4919472"/>
            <a:ext cx="1051560" cy="411480"/>
          </a:xfrm>
          <a:prstGeom prst="rect">
            <a:avLst/>
          </a:prstGeom>
          <a:noFill/>
          <a:ln/>
        </p:spPr>
        <p:txBody>
          <a:bodyPr wrap="square" lIns="0" tIns="0" rIns="0" bIns="0" rtlCol="0" anchor="ctr"/>
          <a:lstStyle/>
          <a:p>
            <a:pPr indent="0" marL="0">
              <a:buNone/>
            </a:pPr>
            <a:r>
              <a:rPr lang="en-US" sz="2200" b="1" dirty="0">
                <a:solidFill>
                  <a:srgbClr val="F4F4FA"/>
                </a:solidFill>
                <a:latin typeface="Calibri" pitchFamily="34" charset="0"/>
                <a:ea typeface="Calibri" pitchFamily="34" charset="-122"/>
                <a:cs typeface="Calibri" pitchFamily="34" charset="-120"/>
              </a:rPr>
              <a:t>4</a:t>
            </a:r>
            <a:endParaRPr lang="en-US" sz="2200" dirty="0"/>
          </a:p>
        </p:txBody>
      </p:sp>
      <p:sp>
        <p:nvSpPr>
          <p:cNvPr id="14" name="Text 11"/>
          <p:cNvSpPr txBox="1"/>
          <p:nvPr/>
        </p:nvSpPr>
        <p:spPr>
          <a:xfrm>
            <a:off x="2148840" y="5349240"/>
            <a:ext cx="105156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routes captured</a:t>
            </a:r>
            <a:endParaRPr lang="en-US" sz="1100" dirty="0"/>
          </a:p>
        </p:txBody>
      </p:sp>
      <p:sp>
        <p:nvSpPr>
          <p:cNvPr id="15" name="Shape 12"/>
          <p:cNvSpPr/>
          <p:nvPr/>
        </p:nvSpPr>
        <p:spPr>
          <a:xfrm>
            <a:off x="3474720" y="4846320"/>
            <a:ext cx="1325880" cy="868680"/>
          </a:xfrm>
          <a:prstGeom prst="roundRect">
            <a:avLst>
              <a:gd name="adj" fmla="val 8421"/>
            </a:avLst>
          </a:prstGeom>
          <a:solidFill>
            <a:srgbClr val="15152A"/>
          </a:solidFill>
          <a:ln w="12700">
            <a:solidFill>
              <a:srgbClr val="2A2A4A"/>
            </a:solidFill>
            <a:prstDash val="solid"/>
          </a:ln>
        </p:spPr>
      </p:sp>
      <p:sp>
        <p:nvSpPr>
          <p:cNvPr id="16" name="Text 13"/>
          <p:cNvSpPr txBox="1"/>
          <p:nvPr/>
        </p:nvSpPr>
        <p:spPr>
          <a:xfrm>
            <a:off x="3611880" y="4919472"/>
            <a:ext cx="1051560" cy="411480"/>
          </a:xfrm>
          <a:prstGeom prst="rect">
            <a:avLst/>
          </a:prstGeom>
          <a:noFill/>
          <a:ln/>
        </p:spPr>
        <p:txBody>
          <a:bodyPr wrap="square" lIns="0" tIns="0" rIns="0" bIns="0" rtlCol="0" anchor="ctr"/>
          <a:lstStyle/>
          <a:p>
            <a:pPr indent="0" marL="0">
              <a:buNone/>
            </a:pPr>
            <a:r>
              <a:rPr lang="en-US" sz="2200" b="1" dirty="0">
                <a:solidFill>
                  <a:srgbClr val="F43F5E"/>
                </a:solidFill>
                <a:latin typeface="Calibri" pitchFamily="34" charset="0"/>
                <a:ea typeface="Calibri" pitchFamily="34" charset="-122"/>
                <a:cs typeface="Calibri" pitchFamily="34" charset="-120"/>
              </a:rPr>
              <a:t>10%</a:t>
            </a:r>
            <a:endParaRPr lang="en-US" sz="2200" dirty="0"/>
          </a:p>
        </p:txBody>
      </p:sp>
      <p:sp>
        <p:nvSpPr>
          <p:cNvPr id="17" name="Text 14"/>
          <p:cNvSpPr txBox="1"/>
          <p:nvPr/>
        </p:nvSpPr>
        <p:spPr>
          <a:xfrm>
            <a:off x="3611880" y="5349240"/>
            <a:ext cx="1051560" cy="274320"/>
          </a:xfrm>
          <a:prstGeom prst="rect">
            <a:avLst/>
          </a:prstGeom>
          <a:noFill/>
          <a:ln/>
        </p:spPr>
        <p:txBody>
          <a:bodyPr wrap="square" lIns="0" tIns="0" rIns="0" bIns="0" rtlCol="0" anchor="ctr"/>
          <a:lstStyle/>
          <a:p>
            <a:pPr indent="0" marL="0">
              <a:buNone/>
            </a:pPr>
            <a:r>
              <a:rPr lang="en-US" sz="1100" dirty="0">
                <a:solidFill>
                  <a:srgbClr val="A8A8C4"/>
                </a:solidFill>
                <a:latin typeface="Calibri" pitchFamily="34" charset="0"/>
                <a:ea typeface="Calibri" pitchFamily="34" charset="-122"/>
                <a:cs typeface="Calibri" pitchFamily="34" charset="-120"/>
              </a:rPr>
              <a:t>errors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OPTIONAL, SAME PROJECT</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Step 6: Add live traffic when you are ready</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02920" y="1280160"/>
            <a:ext cx="6309360" cy="3804920"/>
          </a:xfrm>
          <a:prstGeom prst="roundRect">
            <a:avLst>
              <a:gd name="adj" fmla="val 1923"/>
            </a:avLst>
          </a:prstGeom>
          <a:solidFill>
            <a:srgbClr val="15152A"/>
          </a:solidFill>
          <a:ln w="12700">
            <a:solidFill>
              <a:srgbClr val="2A2A4A"/>
            </a:solidFill>
            <a:prstDash val="solid"/>
          </a:ln>
        </p:spPr>
      </p:sp>
      <p:pic>
        <p:nvPicPr>
          <p:cNvPr id="6" name="Image 0" descr="/Users/sakariyaanthony/Documents/GitHub/pulseops/pulseops-source/docs/poc/16-api-live-own.png">    </p:cNvPr>
          <p:cNvPicPr>
            <a:picLocks noChangeAspect="1"/>
          </p:cNvPicPr>
          <p:nvPr/>
        </p:nvPicPr>
        <p:blipFill>
          <a:blip r:embed="rId1"/>
          <a:stretch>
            <a:fillRect/>
          </a:stretch>
        </p:blipFill>
        <p:spPr>
          <a:xfrm>
            <a:off x="548640" y="1325880"/>
            <a:ext cx="6217920" cy="3713480"/>
          </a:xfrm>
          <a:prstGeom prst="rect">
            <a:avLst/>
          </a:prstGeom>
        </p:spPr>
      </p:pic>
      <p:sp>
        <p:nvSpPr>
          <p:cNvPr id="7" name="Shape 4"/>
          <p:cNvSpPr/>
          <p:nvPr/>
        </p:nvSpPr>
        <p:spPr>
          <a:xfrm>
            <a:off x="7726680" y="1280160"/>
            <a:ext cx="3977640" cy="3132392"/>
          </a:xfrm>
          <a:prstGeom prst="roundRect">
            <a:avLst>
              <a:gd name="adj" fmla="val 2335"/>
            </a:avLst>
          </a:prstGeom>
          <a:solidFill>
            <a:srgbClr val="15152A"/>
          </a:solidFill>
          <a:ln w="12700">
            <a:solidFill>
              <a:srgbClr val="2A2A4A"/>
            </a:solidFill>
            <a:prstDash val="solid"/>
          </a:ln>
        </p:spPr>
      </p:sp>
      <p:pic>
        <p:nvPicPr>
          <p:cNvPr id="8" name="Image 1" descr="/Users/sakariyaanthony/Documents/GitHub/pulseops/pulseops-source/docs/poc/c-settings.png">    </p:cNvPr>
          <p:cNvPicPr>
            <a:picLocks noChangeAspect="1"/>
          </p:cNvPicPr>
          <p:nvPr/>
        </p:nvPicPr>
        <p:blipFill>
          <a:blip r:embed="rId2"/>
          <a:stretch>
            <a:fillRect/>
          </a:stretch>
        </p:blipFill>
        <p:spPr>
          <a:xfrm>
            <a:off x="7772400" y="1325880"/>
            <a:ext cx="3886200" cy="3040952"/>
          </a:xfrm>
          <a:prstGeom prst="rect">
            <a:avLst/>
          </a:prstGeom>
        </p:spPr>
      </p:pic>
      <p:sp>
        <p:nvSpPr>
          <p:cNvPr id="9" name="Text 5"/>
          <p:cNvSpPr txBox="1"/>
          <p:nvPr/>
        </p:nvSpPr>
        <p:spPr>
          <a:xfrm>
            <a:off x="548640" y="5303520"/>
            <a:ext cx="6949440" cy="10972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A"/>
                </a:solidFill>
                <a:latin typeface="Calibri" pitchFamily="34" charset="0"/>
                <a:ea typeface="Calibri" pitchFamily="34" charset="-122"/>
                <a:cs typeface="Calibri" pitchFamily="34" charset="-120"/>
              </a:rPr>
              <a:t>Settings shows the snippet with the service name filled in. Generate new key shows the full key once</a:t>
            </a:r>
            <a:endParaRPr lang="en-US" sz="1200" dirty="0"/>
          </a:p>
          <a:p>
            <a:pPr marL="342900" indent="-342900">
              <a:spcAft>
                <a:spcPts val="800"/>
              </a:spcAft>
              <a:buSzPct val="100000"/>
              <a:buChar char="•"/>
            </a:pPr>
            <a:r>
              <a:rPr lang="en-US" sz="1200" dirty="0">
                <a:solidFill>
                  <a:srgbClr val="F4F4FA"/>
                </a:solidFill>
                <a:latin typeface="Calibri" pitchFamily="34" charset="0"/>
                <a:ea typeface="Calibri" pitchFamily="34" charset="-122"/>
                <a:cs typeface="Calibri" pitchFamily="34" charset="-120"/>
              </a:rPr>
              <a:t>Generating a key stops the old one, so apps using it get rejected</a:t>
            </a:r>
            <a:endParaRPr lang="en-US" sz="1200" dirty="0"/>
          </a:p>
          <a:p>
            <a:pPr marL="342900" indent="-342900">
              <a:spcAft>
                <a:spcPts val="800"/>
              </a:spcAft>
              <a:buSzPct val="100000"/>
              <a:buChar char="•"/>
            </a:pPr>
            <a:r>
              <a:rPr lang="en-US" sz="1200" dirty="0">
                <a:solidFill>
                  <a:srgbClr val="F4F4FA"/>
                </a:solidFill>
                <a:latin typeface="Calibri" pitchFamily="34" charset="0"/>
                <a:ea typeface="Calibri" pitchFamily="34" charset="-122"/>
                <a:cs typeface="Calibri" pitchFamily="34" charset="-120"/>
              </a:rPr>
              <a:t>The API page now defaults to Live traffic, with a trend per route</a:t>
            </a:r>
            <a:endParaRPr lang="en-US" sz="1200" dirty="0"/>
          </a:p>
        </p:txBody>
      </p:sp>
      <p:sp>
        <p:nvSpPr>
          <p:cNvPr id="10" name="Text 6"/>
          <p:cNvSpPr txBox="1"/>
          <p:nvPr/>
        </p:nvSpPr>
        <p:spPr>
          <a:xfrm>
            <a:off x="7772400" y="4800600"/>
            <a:ext cx="3886200" cy="914400"/>
          </a:xfrm>
          <a:prstGeom prst="rect">
            <a:avLst/>
          </a:prstGeom>
          <a:noFill/>
          <a:ln/>
        </p:spPr>
        <p:txBody>
          <a:bodyPr wrap="square" lIns="0" tIns="0" rIns="0" bIns="0" rtlCol="0" anchor="t"/>
          <a:lstStyle/>
          <a:p>
            <a:pPr indent="0" marL="0">
              <a:buNone/>
            </a:pPr>
            <a:r>
              <a:rPr lang="en-US" sz="1100" i="1" dirty="0">
                <a:solidFill>
                  <a:srgbClr val="A8A8C4"/>
                </a:solidFill>
                <a:latin typeface="Calibri" pitchFamily="34" charset="0"/>
                <a:ea typeface="Calibri" pitchFamily="34" charset="-122"/>
                <a:cs typeface="Calibri" pitchFamily="34" charset="-120"/>
              </a:rPr>
              <a:t>Demo traffic here was posted to the ingest endpoint in the SDK's format. The demo app has no SDK embedded.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What was shown, and what is left</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48640" y="1417320"/>
            <a:ext cx="5394960" cy="4754880"/>
          </a:xfrm>
          <a:prstGeom prst="roundRect">
            <a:avLst>
              <a:gd name="adj" fmla="val 1923"/>
            </a:avLst>
          </a:prstGeom>
          <a:solidFill>
            <a:srgbClr val="15152A"/>
          </a:solidFill>
          <a:ln w="12700">
            <a:solidFill>
              <a:srgbClr val="2A2A4A"/>
            </a:solidFill>
            <a:prstDash val="solid"/>
          </a:ln>
        </p:spPr>
      </p:sp>
      <p:sp>
        <p:nvSpPr>
          <p:cNvPr id="6" name="Shape 4"/>
          <p:cNvSpPr/>
          <p:nvPr/>
        </p:nvSpPr>
        <p:spPr>
          <a:xfrm>
            <a:off x="6217920" y="1417320"/>
            <a:ext cx="5394960" cy="4754880"/>
          </a:xfrm>
          <a:prstGeom prst="roundRect">
            <a:avLst>
              <a:gd name="adj" fmla="val 1923"/>
            </a:avLst>
          </a:prstGeom>
          <a:solidFill>
            <a:srgbClr val="15152A"/>
          </a:solidFill>
          <a:ln w="12700">
            <a:solidFill>
              <a:srgbClr val="2A2A4A"/>
            </a:solidFill>
            <a:prstDash val="solid"/>
          </a:ln>
        </p:spPr>
      </p:sp>
      <p:sp>
        <p:nvSpPr>
          <p:cNvPr id="7" name="Text 5"/>
          <p:cNvSpPr txBox="1"/>
          <p:nvPr/>
        </p:nvSpPr>
        <p:spPr>
          <a:xfrm>
            <a:off x="822960" y="1600200"/>
            <a:ext cx="4846320" cy="365760"/>
          </a:xfrm>
          <a:prstGeom prst="rect">
            <a:avLst/>
          </a:prstGeom>
          <a:noFill/>
          <a:ln/>
        </p:spPr>
        <p:txBody>
          <a:bodyPr wrap="square" lIns="0" tIns="0" rIns="0" bIns="0" rtlCol="0" anchor="ctr"/>
          <a:lstStyle/>
          <a:p>
            <a:pPr indent="0" marL="0">
              <a:buNone/>
            </a:pPr>
            <a:r>
              <a:rPr lang="en-US" sz="2000" b="1" dirty="0">
                <a:solidFill>
                  <a:srgbClr val="34D399"/>
                </a:solidFill>
                <a:latin typeface="Calibri" pitchFamily="34" charset="0"/>
                <a:ea typeface="Calibri" pitchFamily="34" charset="-122"/>
                <a:cs typeface="Calibri" pitchFamily="34" charset="-120"/>
              </a:rPr>
              <a:t>Demonstrated</a:t>
            </a:r>
            <a:endParaRPr lang="en-US" sz="2000" dirty="0"/>
          </a:p>
        </p:txBody>
      </p:sp>
      <p:sp>
        <p:nvSpPr>
          <p:cNvPr id="8" name="Text 6"/>
          <p:cNvSpPr txBox="1"/>
          <p:nvPr/>
        </p:nvSpPr>
        <p:spPr>
          <a:xfrm>
            <a:off x="822960" y="2103120"/>
            <a:ext cx="484632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One project holds the asset scan, API view, Services and live traffic</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Asset scan finds unused, oversized and broken files</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API calls captured from a running app with no code changes</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Real key reveal and rotation; the old key stops working</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Duplicate project names are refused</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Private and local addresses stay blocked during scans</a:t>
            </a:r>
            <a:endParaRPr lang="en-US" sz="1400" dirty="0"/>
          </a:p>
        </p:txBody>
      </p:sp>
      <p:sp>
        <p:nvSpPr>
          <p:cNvPr id="9" name="Text 7"/>
          <p:cNvSpPr txBox="1"/>
          <p:nvPr/>
        </p:nvSpPr>
        <p:spPr>
          <a:xfrm>
            <a:off x="6492240" y="1600200"/>
            <a:ext cx="4846320" cy="36576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Limits and next steps</a:t>
            </a:r>
            <a:endParaRPr lang="en-US" sz="2000" dirty="0"/>
          </a:p>
        </p:txBody>
      </p:sp>
      <p:sp>
        <p:nvSpPr>
          <p:cNvPr id="10" name="Text 8"/>
          <p:cNvSpPr txBox="1"/>
          <p:nvPr/>
        </p:nvSpPr>
        <p:spPr>
          <a:xfrm>
            <a:off x="6492240" y="2103120"/>
            <a:ext cx="484632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The app must be started by you; the scan does not launch it</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A capture is one scripted visit, not live traffic</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Percentiles need enough samples (5 for p95, 20 for p99)</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Traces, team, retention and notification settings are not configured yet</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Next: scheduled captures and an opt-in way to start the app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14"/>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SETUP</a:t>
            </a:r>
            <a:endParaRPr lang="en-US" sz="1200" dirty="0"/>
          </a:p>
        </p:txBody>
      </p:sp>
      <p:sp>
        <p:nvSpPr>
          <p:cNvPr id="3" name="Text 1"/>
          <p:cNvSpPr txBox="1"/>
          <p:nvPr/>
        </p:nvSpPr>
        <p:spPr>
          <a:xfrm>
            <a:off x="548640" y="594360"/>
            <a:ext cx="11064240" cy="548640"/>
          </a:xfrm>
          <a:prstGeom prst="rect">
            <a:avLst/>
          </a:prstGeom>
          <a:noFill/>
          <a:ln/>
        </p:spPr>
        <p:txBody>
          <a:bodyPr wrap="square" lIns="0" tIns="0" rIns="0" bIns="0" rtlCol="0" anchor="ctr"/>
          <a:lstStyle/>
          <a:p>
            <a:pPr indent="0" marL="0">
              <a:buNone/>
            </a:pPr>
            <a:r>
              <a:rPr lang="en-US" sz="3000" b="1" dirty="0">
                <a:solidFill>
                  <a:srgbClr val="F4F4FA"/>
                </a:solidFill>
                <a:latin typeface="Calibri" pitchFamily="34" charset="0"/>
                <a:ea typeface="Calibri" pitchFamily="34" charset="-122"/>
                <a:cs typeface="Calibri" pitchFamily="34" charset="-120"/>
              </a:rPr>
              <a:t>Run the demo yourself</a:t>
            </a:r>
            <a:endParaRPr lang="en-US" sz="3000" dirty="0"/>
          </a:p>
        </p:txBody>
      </p:sp>
      <p:sp>
        <p:nvSpPr>
          <p:cNvPr id="4" name="Text 2"/>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1000" dirty="0">
                <a:solidFill>
                  <a:srgbClr val="A8A8C4"/>
                </a:solidFill>
                <a:latin typeface="Calibri" pitchFamily="34" charset="0"/>
                <a:ea typeface="Calibri" pitchFamily="34" charset="-122"/>
                <a:cs typeface="Calibri" pitchFamily="34" charset="-120"/>
              </a:rPr>
              <a:t>PulseOps proof of concept</a:t>
            </a:r>
            <a:endParaRPr lang="en-US" sz="1000" dirty="0"/>
          </a:p>
        </p:txBody>
      </p:sp>
      <p:sp>
        <p:nvSpPr>
          <p:cNvPr id="5" name="Shape 3"/>
          <p:cNvSpPr/>
          <p:nvPr/>
        </p:nvSpPr>
        <p:spPr>
          <a:xfrm>
            <a:off x="548640" y="1417320"/>
            <a:ext cx="6949440" cy="4754880"/>
          </a:xfrm>
          <a:prstGeom prst="roundRect">
            <a:avLst>
              <a:gd name="adj" fmla="val 1923"/>
            </a:avLst>
          </a:prstGeom>
          <a:solidFill>
            <a:srgbClr val="05050B"/>
          </a:solidFill>
          <a:ln w="12700">
            <a:solidFill>
              <a:srgbClr val="2A2A4A"/>
            </a:solidFill>
            <a:prstDash val="solid"/>
          </a:ln>
        </p:spPr>
      </p:sp>
      <p:sp>
        <p:nvSpPr>
          <p:cNvPr id="6" name="Text 4"/>
          <p:cNvSpPr txBox="1"/>
          <p:nvPr/>
        </p:nvSpPr>
        <p:spPr>
          <a:xfrm>
            <a:off x="822960" y="1645920"/>
            <a:ext cx="6400800" cy="4297680"/>
          </a:xfrm>
          <a:prstGeom prst="rect">
            <a:avLst/>
          </a:prstGeom>
          <a:noFill/>
          <a:ln/>
        </p:spPr>
        <p:txBody>
          <a:bodyPr wrap="square" lIns="0" tIns="0" rIns="0" bIns="0" rtlCol="0" anchor="t"/>
          <a:lstStyle/>
          <a:p>
            <a:pPr indent="0" marL="0">
              <a:buNone/>
            </a:pPr>
            <a:r>
              <a:rPr lang="en-US" sz="1400" dirty="0">
                <a:solidFill>
                  <a:srgbClr val="22D3EE"/>
                </a:solidFill>
                <a:latin typeface="Courier New" pitchFamily="34" charset="0"/>
                <a:ea typeface="Courier New" pitchFamily="34" charset="-122"/>
                <a:cs typeface="Courier New" pitchFamily="34" charset="-120"/>
              </a:rPr>
              <a:t># 1. databases (pulseops-source/infra)</a:t>
            </a: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docker compose up -d timescaledb redis</a:t>
            </a:r>
            <a:endParaRPr lang="en-US" sz="1400" dirty="0"/>
          </a:p>
          <a:p>
            <a:pPr indent="0" marL="0">
              <a:buNone/>
            </a:pP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 2. API (pulseops-source/apps/api)</a:t>
            </a: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 .venv/bin/activate</a:t>
            </a: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python -m app</a:t>
            </a:r>
            <a:endParaRPr lang="en-US" sz="1400" dirty="0"/>
          </a:p>
          <a:p>
            <a:pPr indent="0" marL="0">
              <a:buNone/>
            </a:pP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 3. dashboard (pulseops-source/apps/web)</a:t>
            </a: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npm run dev</a:t>
            </a:r>
            <a:endParaRPr lang="en-US" sz="1400" dirty="0"/>
          </a:p>
          <a:p>
            <a:pPr indent="0" marL="0">
              <a:buNone/>
            </a:pP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 open http://127.0.0.1:47321</a:t>
            </a:r>
            <a:endParaRPr lang="en-US" sz="1400" dirty="0"/>
          </a:p>
          <a:p>
            <a:pPr indent="0" marL="0">
              <a:buNone/>
            </a:pPr>
            <a:r>
              <a:rPr lang="en-US" sz="1400" dirty="0">
                <a:solidFill>
                  <a:srgbClr val="22D3EE"/>
                </a:solidFill>
                <a:latin typeface="Courier New" pitchFamily="34" charset="0"/>
                <a:ea typeface="Courier New" pitchFamily="34" charset="-122"/>
                <a:cs typeface="Courier New" pitchFamily="34" charset="-120"/>
              </a:rPr>
              <a:t># demo@pulseops.dev / pulseops-demo</a:t>
            </a:r>
            <a:endParaRPr lang="en-US" sz="1400" dirty="0"/>
          </a:p>
        </p:txBody>
      </p:sp>
      <p:sp>
        <p:nvSpPr>
          <p:cNvPr id="7" name="Text 5"/>
          <p:cNvSpPr txBox="1"/>
          <p:nvPr/>
        </p:nvSpPr>
        <p:spPr>
          <a:xfrm>
            <a:off x="7955280" y="1417320"/>
            <a:ext cx="3657600" cy="320040"/>
          </a:xfrm>
          <a:prstGeom prst="rect">
            <a:avLst/>
          </a:prstGeom>
          <a:noFill/>
          <a:ln/>
        </p:spPr>
        <p:txBody>
          <a:bodyPr wrap="square" lIns="0" tIns="0" rIns="0" bIns="0" rtlCol="0" anchor="ctr"/>
          <a:lstStyle/>
          <a:p>
            <a:pPr indent="0" marL="0">
              <a:buNone/>
            </a:pPr>
            <a:r>
              <a:rPr lang="en-US" sz="1800" b="1" dirty="0">
                <a:solidFill>
                  <a:srgbClr val="F4F4FA"/>
                </a:solidFill>
                <a:latin typeface="Calibri" pitchFamily="34" charset="0"/>
                <a:ea typeface="Calibri" pitchFamily="34" charset="-122"/>
                <a:cs typeface="Calibri" pitchFamily="34" charset="-120"/>
              </a:rPr>
              <a:t>Before you present</a:t>
            </a:r>
            <a:endParaRPr lang="en-US" sz="1800" dirty="0"/>
          </a:p>
        </p:txBody>
      </p:sp>
      <p:sp>
        <p:nvSpPr>
          <p:cNvPr id="8" name="Text 6"/>
          <p:cNvSpPr txBox="1"/>
          <p:nvPr/>
        </p:nvSpPr>
        <p:spPr>
          <a:xfrm>
            <a:off x="7955280" y="1920240"/>
            <a:ext cx="3657600" cy="4023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Start the app you will scan so it answers at the base URL</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Keep its repository inside your home folder</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Install the scanner libraries once; SCAN.md has the commands</a:t>
            </a:r>
            <a:endParaRPr lang="en-US" sz="1400" dirty="0"/>
          </a:p>
          <a:p>
            <a:pPr marL="342900" indent="-342900">
              <a:spcAft>
                <a:spcPts val="800"/>
              </a:spcAft>
              <a:buSzPct val="100000"/>
              <a:buChar char="•"/>
            </a:pPr>
            <a:r>
              <a:rPr lang="en-US" sz="1400" dirty="0">
                <a:solidFill>
                  <a:srgbClr val="F4F4FA"/>
                </a:solidFill>
                <a:latin typeface="Calibri" pitchFamily="34" charset="0"/>
                <a:ea typeface="Calibri" pitchFamily="34" charset="-122"/>
                <a:cs typeface="Calibri" pitchFamily="34" charset="-120"/>
              </a:rPr>
              <a:t>Restart the API after code changes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PulseOps POC</dc:title>
  <dc:subject>PptxGenJS Presentation</dc:subject>
  <dc:creator>PptxGenJS</dc:creator>
  <cp:lastModifiedBy>PptxGenJS</cp:lastModifiedBy>
  <cp:revision>1</cp:revision>
  <dcterms:created xsi:type="dcterms:W3CDTF">2026-10-20T15:24:50Z</dcterms:created>
  <dcterms:modified xsi:type="dcterms:W3CDTF">2026-10-20T15:24:50Z</dcterms:modified>
</cp:coreProperties>
</file>